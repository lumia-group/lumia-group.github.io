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 showGuides="1">
      <p:cViewPr>
        <p:scale>
          <a:sx n="107" d="100"/>
          <a:sy n="107" d="100"/>
        </p:scale>
        <p:origin x="1184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10"/>
  <c:chart>
    <c:title>
      <c:tx>
        <c:rich>
          <a:bodyPr/>
          <a:lstStyle/>
          <a:p>
            <a:r>
              <a:rPr lang="en" sz="1200" b="1">
                <a:solidFill>
                  <a:srgbClr val="07142F"/>
                </a:solidFill>
              </a:rPr>
              <a:t>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4285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76</c:v>
              </c:pt>
              <c:pt idx="1">
                <c:v>84</c:v>
              </c:pt>
              <c:pt idx="2">
                <c:v>79</c:v>
              </c:pt>
              <c:pt idx="3">
                <c:v>84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E30-2D48-AFD4-D48FA59AE29A}"/>
            </c:ext>
          </c:extLst>
        </c:ser>
        <c:ser>
          <c:idx val="1"/>
          <c:order val="1"/>
          <c:tx>
            <c:v>F1 Score (%)</c:v>
          </c:tx>
          <c:spPr>
            <a:solidFill>
              <a:srgbClr val="EA43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74</c:v>
              </c:pt>
              <c:pt idx="2">
                <c:v>62</c:v>
              </c:pt>
              <c:pt idx="3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E30-2D48-AFD4-D48FA59AE29A}"/>
            </c:ext>
          </c:extLst>
        </c:ser>
        <c:ser>
          <c:idx val="2"/>
          <c:order val="2"/>
          <c:tx>
            <c:v>EM (%)</c:v>
          </c:tx>
          <c:spPr>
            <a:solidFill>
              <a:srgbClr val="FBBC0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60</c:v>
              </c:pt>
              <c:pt idx="2">
                <c:v>42</c:v>
              </c:pt>
              <c:pt idx="3">
                <c:v>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E30-2D48-AFD4-D48FA59AE29A}"/>
            </c:ext>
          </c:extLst>
        </c:ser>
        <c:ser>
          <c:idx val="3"/>
          <c:order val="3"/>
          <c:tx>
            <c:v>BLEU (%)</c:v>
          </c:tx>
          <c:spPr>
            <a:solidFill>
              <a:srgbClr val="34A85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25</c:v>
              </c:pt>
              <c:pt idx="1">
                <c:v>26</c:v>
              </c:pt>
              <c:pt idx="2">
                <c:v>35</c:v>
              </c:pt>
              <c:pt idx="3">
                <c:v>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E30-2D48-AFD4-D48FA59AE29A}"/>
            </c:ext>
          </c:extLst>
        </c:ser>
        <c:ser>
          <c:idx val="4"/>
          <c:order val="4"/>
          <c:tx>
            <c:v>ROUGE-L (%)</c:v>
          </c:tx>
          <c:spPr>
            <a:solidFill>
              <a:srgbClr val="8B5CF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60</c:v>
              </c:pt>
              <c:pt idx="1">
                <c:v>46</c:v>
              </c:pt>
              <c:pt idx="2">
                <c:v>60</c:v>
              </c:pt>
              <c:pt idx="3">
                <c:v>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E30-2D48-AFD4-D48FA59AE29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8B0B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0C1734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8EC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8DD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0C1734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solidFill>
            <a:srgbClr val="FFFFFF">
              <a:alpha val="0"/>
            </a:srgbClr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0C1734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Aurora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15FE32E-97E2-449C-9657-A9E9DE3E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0" y="1200150"/>
            <a:ext cx="5905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LUMIA LAB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Aurora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95F0BA59-B9C0-4E98-82EA-7AA4D31A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0" y="6858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CONTENTS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Aurora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3A802BFD-791B-46CF-8C95-93255CB9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950" y="2209800"/>
            <a:ext cx="4572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Aurora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0F22227-34C9-4017-8022-3FD46F75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1915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Slide Title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Aurora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DC0126F8-AE70-432A-A249-132792BD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7239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Architecture Overview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Aurora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09A9A32-1D92-458A-8044-FBB936BE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0" y="1924050"/>
            <a:ext cx="4191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MIA Aurora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C032B3-BA8A-4E1E-9CFE-374C619C3BFF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151947-991C-4186-931B-9965DDA68B39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3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35" b="1" dirty="0">
                <a:solidFill>
                  <a:srgbClr val="07142F"/>
                </a:solidFill>
                <a:latin typeface="+mn-ea"/>
                <a:cs typeface="Inter"/>
              </a:rPr>
              <a:t>COVER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" y="1211035"/>
            <a:ext cx="1741715" cy="1741715"/>
          </a:xfrm>
          <a:prstGeom prst="rect">
            <a:avLst/>
          </a:prstGeom>
        </p:spPr>
      </p:pic>
      <p:sp>
        <p:nvSpPr>
          <p:cNvPr id="5" name="vertical-divider">
            <a:extLst>
              <a:ext uri="{FF2B5EF4-FFF2-40B4-BE49-F238E27FC236}">
                <a16:creationId xmlns:a16="http://schemas.microsoft.com/office/drawing/2014/main" id="{A1BF260F-4655-478C-9B76-BDFB1332A443}"/>
              </a:ext>
            </a:extLst>
          </p:cNvPr>
          <p:cNvSpPr>
            <a:spLocks noGrp="1"/>
          </p:cNvSpPr>
          <p:nvPr/>
        </p:nvSpPr>
        <p:spPr>
          <a:xfrm>
            <a:off x="2914650" y="1162050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5C6472">
                <a:alpha val="3000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E5D5CD-74B6-4BF3-B161-B473F0BC5911}"/>
              </a:ext>
            </a:extLst>
          </p:cNvPr>
          <p:cNvSpPr>
            <a:spLocks noGrp="1"/>
          </p:cNvSpPr>
          <p:nvPr/>
        </p:nvSpPr>
        <p:spPr>
          <a:xfrm>
            <a:off x="3314700" y="121920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8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5850" b="1" dirty="0">
                <a:solidFill>
                  <a:srgbClr val="07142F"/>
                </a:solidFill>
                <a:latin typeface="+mn-ea"/>
                <a:cs typeface="Space Grotesk"/>
              </a:rPr>
              <a:t>LUMIA LAB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3BCB3A-6AD1-492D-99E1-19A7CDD1FFE8}"/>
              </a:ext>
            </a:extLst>
          </p:cNvPr>
          <p:cNvSpPr>
            <a:spLocks noGrp="1"/>
          </p:cNvSpPr>
          <p:nvPr/>
        </p:nvSpPr>
        <p:spPr>
          <a:xfrm>
            <a:off x="3352800" y="2209800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8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875" b="0" dirty="0">
                <a:solidFill>
                  <a:srgbClr val="5C6472"/>
                </a:solidFill>
                <a:latin typeface="+mn-ea"/>
                <a:cs typeface="Inter"/>
              </a:rPr>
              <a:t>Language Understanding and</a:t>
            </a:r>
          </a:p>
          <a:p>
            <a:pPr algn="l">
              <a:lnSpc>
                <a:spcPct val="116000"/>
              </a:lnSpc>
              <a:buNone/>
              <a:defRPr sz="18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875" b="0" dirty="0">
                <a:solidFill>
                  <a:srgbClr val="5C6472"/>
                </a:solidFill>
                <a:latin typeface="+mn-ea"/>
                <a:cs typeface="Inter"/>
              </a:rPr>
              <a:t>Machine Intelligence Algorithms</a:t>
            </a:r>
          </a:p>
        </p:txBody>
      </p:sp>
      <p:sp>
        <p:nvSpPr>
          <p:cNvPr id="8" name="lumia-aurora-title-bar-1">
            <a:extLst>
              <a:ext uri="{FF2B5EF4-FFF2-40B4-BE49-F238E27FC236}">
                <a16:creationId xmlns:a16="http://schemas.microsoft.com/office/drawing/2014/main" id="{78991530-292E-4818-AFB7-A148774AA43C}"/>
              </a:ext>
            </a:extLst>
          </p:cNvPr>
          <p:cNvSpPr>
            <a:spLocks noGrp="1"/>
          </p:cNvSpPr>
          <p:nvPr/>
        </p:nvSpPr>
        <p:spPr>
          <a:xfrm>
            <a:off x="3352800" y="3105150"/>
            <a:ext cx="190500" cy="23813"/>
          </a:xfrm>
          <a:prstGeom prst="roundRect">
            <a:avLst>
              <a:gd name="adj" fmla="val 48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9" name="lumia-aurora-title-bar-2">
            <a:extLst>
              <a:ext uri="{FF2B5EF4-FFF2-40B4-BE49-F238E27FC236}">
                <a16:creationId xmlns:a16="http://schemas.microsoft.com/office/drawing/2014/main" id="{26EB9A7E-2464-41EB-846D-6B67447EA238}"/>
              </a:ext>
            </a:extLst>
          </p:cNvPr>
          <p:cNvSpPr>
            <a:spLocks noGrp="1"/>
          </p:cNvSpPr>
          <p:nvPr/>
        </p:nvSpPr>
        <p:spPr>
          <a:xfrm>
            <a:off x="3629025" y="3105150"/>
            <a:ext cx="190500" cy="23813"/>
          </a:xfrm>
          <a:prstGeom prst="roundRect">
            <a:avLst>
              <a:gd name="adj" fmla="val 48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0" name="lumia-aurora-title-bar-3">
            <a:extLst>
              <a:ext uri="{FF2B5EF4-FFF2-40B4-BE49-F238E27FC236}">
                <a16:creationId xmlns:a16="http://schemas.microsoft.com/office/drawing/2014/main" id="{1C71BFAE-E96B-498F-8F15-DADEDFE6C977}"/>
              </a:ext>
            </a:extLst>
          </p:cNvPr>
          <p:cNvSpPr>
            <a:spLocks noGrp="1"/>
          </p:cNvSpPr>
          <p:nvPr/>
        </p:nvSpPr>
        <p:spPr>
          <a:xfrm>
            <a:off x="3905250" y="3105150"/>
            <a:ext cx="190500" cy="23813"/>
          </a:xfrm>
          <a:prstGeom prst="roundRect">
            <a:avLst>
              <a:gd name="adj" fmla="val 48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1" name="lumia-aurora-title-bar-4">
            <a:extLst>
              <a:ext uri="{FF2B5EF4-FFF2-40B4-BE49-F238E27FC236}">
                <a16:creationId xmlns:a16="http://schemas.microsoft.com/office/drawing/2014/main" id="{DF831C80-AB5C-4E16-8BED-3D47BA9EF933}"/>
              </a:ext>
            </a:extLst>
          </p:cNvPr>
          <p:cNvSpPr>
            <a:spLocks noGrp="1"/>
          </p:cNvSpPr>
          <p:nvPr/>
        </p:nvSpPr>
        <p:spPr>
          <a:xfrm>
            <a:off x="4181475" y="3105150"/>
            <a:ext cx="190500" cy="23813"/>
          </a:xfrm>
          <a:prstGeom prst="roundRect">
            <a:avLst>
              <a:gd name="adj" fmla="val 48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12" name="lumia-aurora-title-bar-5">
            <a:extLst>
              <a:ext uri="{FF2B5EF4-FFF2-40B4-BE49-F238E27FC236}">
                <a16:creationId xmlns:a16="http://schemas.microsoft.com/office/drawing/2014/main" id="{D6931238-BA24-4C76-8448-340995576F3E}"/>
              </a:ext>
            </a:extLst>
          </p:cNvPr>
          <p:cNvSpPr>
            <a:spLocks noGrp="1"/>
          </p:cNvSpPr>
          <p:nvPr/>
        </p:nvSpPr>
        <p:spPr>
          <a:xfrm>
            <a:off x="4457700" y="3105150"/>
            <a:ext cx="190500" cy="23813"/>
          </a:xfrm>
          <a:prstGeom prst="roundRect">
            <a:avLst>
              <a:gd name="adj" fmla="val 48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31731A-9D8D-4DBB-8377-F2A242ABE674}"/>
              </a:ext>
            </a:extLst>
          </p:cNvPr>
          <p:cNvSpPr>
            <a:spLocks noGrp="1"/>
          </p:cNvSpPr>
          <p:nvPr/>
        </p:nvSpPr>
        <p:spPr>
          <a:xfrm>
            <a:off x="1314449" y="3676649"/>
            <a:ext cx="7526111" cy="5333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3200" b="1" dirty="0">
                <a:solidFill>
                  <a:srgbClr val="07142F"/>
                </a:solidFill>
                <a:latin typeface="+mn-ea"/>
                <a:cs typeface="Space Grotesk"/>
              </a:rPr>
              <a:t>Presentation Title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37171F-97D6-4466-9899-D80809AFA2FD}"/>
              </a:ext>
            </a:extLst>
          </p:cNvPr>
          <p:cNvSpPr>
            <a:spLocks noGrp="1"/>
          </p:cNvSpPr>
          <p:nvPr/>
        </p:nvSpPr>
        <p:spPr>
          <a:xfrm>
            <a:off x="1314450" y="41338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+mn-ea"/>
                <a:cs typeface="Inter"/>
              </a:rPr>
              <a:t>Presenter Name</a:t>
            </a:r>
          </a:p>
          <a:p>
            <a:pPr algn="l">
              <a:lnSpc>
                <a:spcPct val="130000"/>
              </a:lnSpc>
              <a:buNone/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+mn-ea"/>
                <a:cs typeface="Inter"/>
              </a:rPr>
              <a:t>Institution  -  Date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DAD982-6029-4A27-9D16-F09044DF3232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7142F"/>
                </a:solidFill>
                <a:latin typeface="+mn-ea"/>
                <a:cs typeface="Inter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4A83E2-DB77-42E2-8054-62F455839277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50497617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60EE6A-C1E2-46B2-8956-F8543C08E034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67B0B9-F822-46F3-B4FB-331292D0CDA2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3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35" b="1">
                <a:solidFill>
                  <a:srgbClr val="07142F"/>
                </a:solidFill>
                <a:latin typeface="+mn-ea"/>
                <a:cs typeface="Inter"/>
              </a:rPr>
              <a:t>CONTENTS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D0273E-9773-495C-8933-EC2E083CB76D}"/>
              </a:ext>
            </a:extLst>
          </p:cNvPr>
          <p:cNvSpPr>
            <a:spLocks noGrp="1"/>
          </p:cNvSpPr>
          <p:nvPr/>
        </p:nvSpPr>
        <p:spPr>
          <a:xfrm>
            <a:off x="3676650" y="609600"/>
            <a:ext cx="483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5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4500" b="1" dirty="0">
                <a:solidFill>
                  <a:srgbClr val="07142F"/>
                </a:solidFill>
                <a:latin typeface="+mn-ea"/>
                <a:cs typeface="Space Grotesk"/>
              </a:rPr>
              <a:t>CONTENTS</a:t>
            </a:r>
          </a:p>
        </p:txBody>
      </p:sp>
      <p:sp>
        <p:nvSpPr>
          <p:cNvPr id="5" name="lumia-aurora-title-bar-1">
            <a:extLst>
              <a:ext uri="{FF2B5EF4-FFF2-40B4-BE49-F238E27FC236}">
                <a16:creationId xmlns:a16="http://schemas.microsoft.com/office/drawing/2014/main" id="{5E4C5040-9B7D-4313-BCCB-A55C9FD00003}"/>
              </a:ext>
            </a:extLst>
          </p:cNvPr>
          <p:cNvSpPr>
            <a:spLocks noGrp="1"/>
          </p:cNvSpPr>
          <p:nvPr/>
        </p:nvSpPr>
        <p:spPr>
          <a:xfrm>
            <a:off x="5562600" y="1428750"/>
            <a:ext cx="152400" cy="21908"/>
          </a:xfrm>
          <a:prstGeom prst="roundRect">
            <a:avLst>
              <a:gd name="adj" fmla="val 5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" name="lumia-aurora-title-bar-2">
            <a:extLst>
              <a:ext uri="{FF2B5EF4-FFF2-40B4-BE49-F238E27FC236}">
                <a16:creationId xmlns:a16="http://schemas.microsoft.com/office/drawing/2014/main" id="{0CE2319A-5557-4887-8972-3E1E58B784E8}"/>
              </a:ext>
            </a:extLst>
          </p:cNvPr>
          <p:cNvSpPr>
            <a:spLocks noGrp="1"/>
          </p:cNvSpPr>
          <p:nvPr/>
        </p:nvSpPr>
        <p:spPr>
          <a:xfrm>
            <a:off x="5791200" y="1428750"/>
            <a:ext cx="152400" cy="219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7" name="lumia-aurora-title-bar-3">
            <a:extLst>
              <a:ext uri="{FF2B5EF4-FFF2-40B4-BE49-F238E27FC236}">
                <a16:creationId xmlns:a16="http://schemas.microsoft.com/office/drawing/2014/main" id="{C7E0A743-7085-41F5-9955-E8AFAB6462D9}"/>
              </a:ext>
            </a:extLst>
          </p:cNvPr>
          <p:cNvSpPr>
            <a:spLocks noGrp="1"/>
          </p:cNvSpPr>
          <p:nvPr/>
        </p:nvSpPr>
        <p:spPr>
          <a:xfrm>
            <a:off x="6019800" y="1428750"/>
            <a:ext cx="152400" cy="21908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8" name="lumia-aurora-title-bar-4">
            <a:extLst>
              <a:ext uri="{FF2B5EF4-FFF2-40B4-BE49-F238E27FC236}">
                <a16:creationId xmlns:a16="http://schemas.microsoft.com/office/drawing/2014/main" id="{88B7864E-B605-47CD-A672-064A46AB7691}"/>
              </a:ext>
            </a:extLst>
          </p:cNvPr>
          <p:cNvSpPr>
            <a:spLocks noGrp="1"/>
          </p:cNvSpPr>
          <p:nvPr/>
        </p:nvSpPr>
        <p:spPr>
          <a:xfrm>
            <a:off x="6248400" y="1428750"/>
            <a:ext cx="152400" cy="219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9" name="lumia-aurora-title-bar-5">
            <a:extLst>
              <a:ext uri="{FF2B5EF4-FFF2-40B4-BE49-F238E27FC236}">
                <a16:creationId xmlns:a16="http://schemas.microsoft.com/office/drawing/2014/main" id="{C9BE5570-ECD3-41DE-A3B1-DE528C7CDFB5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152400" cy="21908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2ACF75-157F-43BB-BA5D-CCE7F45EE4D0}"/>
              </a:ext>
            </a:extLst>
          </p:cNvPr>
          <p:cNvSpPr>
            <a:spLocks noGrp="1"/>
          </p:cNvSpPr>
          <p:nvPr/>
        </p:nvSpPr>
        <p:spPr>
          <a:xfrm>
            <a:off x="1571750" y="2076450"/>
            <a:ext cx="1504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900" b="1">
                <a:solidFill>
                  <a:srgbClr val="4285F4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4285F4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79A5FF-82B1-4869-80ED-25BE1578D0CA}"/>
              </a:ext>
            </a:extLst>
          </p:cNvPr>
          <p:cNvSpPr>
            <a:spLocks noGrp="1"/>
          </p:cNvSpPr>
          <p:nvPr/>
        </p:nvSpPr>
        <p:spPr>
          <a:xfrm>
            <a:off x="1571750" y="28384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Introduction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9C328D-11C5-4F0B-B45A-8A1A90DA2AE8}"/>
              </a:ext>
            </a:extLst>
          </p:cNvPr>
          <p:cNvSpPr>
            <a:spLocks noGrp="1"/>
          </p:cNvSpPr>
          <p:nvPr/>
        </p:nvSpPr>
        <p:spPr>
          <a:xfrm>
            <a:off x="1647950" y="33147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Background and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Motivation</a:t>
            </a:r>
          </a:p>
        </p:txBody>
      </p:sp>
      <p:sp>
        <p:nvSpPr>
          <p:cNvPr id="13" name="vertical-divider">
            <a:extLst>
              <a:ext uri="{FF2B5EF4-FFF2-40B4-BE49-F238E27FC236}">
                <a16:creationId xmlns:a16="http://schemas.microsoft.com/office/drawing/2014/main" id="{0A04AA2B-130A-4414-947C-F38FA13BC016}"/>
              </a:ext>
            </a:extLst>
          </p:cNvPr>
          <p:cNvSpPr>
            <a:spLocks noGrp="1"/>
          </p:cNvSpPr>
          <p:nvPr/>
        </p:nvSpPr>
        <p:spPr>
          <a:xfrm>
            <a:off x="3267200" y="2238375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5C6472">
                <a:alpha val="1800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65DCA9-66EF-435C-85FB-6FD04FB70396}"/>
              </a:ext>
            </a:extLst>
          </p:cNvPr>
          <p:cNvSpPr>
            <a:spLocks noGrp="1"/>
          </p:cNvSpPr>
          <p:nvPr/>
        </p:nvSpPr>
        <p:spPr>
          <a:xfrm>
            <a:off x="3457700" y="2076450"/>
            <a:ext cx="1504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900" b="1">
                <a:solidFill>
                  <a:srgbClr val="EA433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EA4335"/>
                </a:solidFill>
                <a:latin typeface="+mn-ea"/>
                <a:cs typeface="Space Grotesk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DACBEC-B02E-4618-8CB1-3CDC6599B686}"/>
              </a:ext>
            </a:extLst>
          </p:cNvPr>
          <p:cNvSpPr>
            <a:spLocks noGrp="1"/>
          </p:cNvSpPr>
          <p:nvPr/>
        </p:nvSpPr>
        <p:spPr>
          <a:xfrm>
            <a:off x="3457700" y="28384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Method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470330-FBC6-4395-B268-BF5A4FD02D47}"/>
              </a:ext>
            </a:extLst>
          </p:cNvPr>
          <p:cNvSpPr>
            <a:spLocks noGrp="1"/>
          </p:cNvSpPr>
          <p:nvPr/>
        </p:nvSpPr>
        <p:spPr>
          <a:xfrm>
            <a:off x="3533900" y="33147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Approach and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Methods</a:t>
            </a:r>
          </a:p>
        </p:txBody>
      </p:sp>
      <p:sp>
        <p:nvSpPr>
          <p:cNvPr id="17" name="vertical-divider">
            <a:extLst>
              <a:ext uri="{FF2B5EF4-FFF2-40B4-BE49-F238E27FC236}">
                <a16:creationId xmlns:a16="http://schemas.microsoft.com/office/drawing/2014/main" id="{F1D7AFEC-8217-42ED-BE04-F167E9F9C95D}"/>
              </a:ext>
            </a:extLst>
          </p:cNvPr>
          <p:cNvSpPr>
            <a:spLocks noGrp="1"/>
          </p:cNvSpPr>
          <p:nvPr/>
        </p:nvSpPr>
        <p:spPr>
          <a:xfrm>
            <a:off x="5153150" y="2238375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5C6472">
                <a:alpha val="1800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257407-7682-41CD-87A5-058D97C513D9}"/>
              </a:ext>
            </a:extLst>
          </p:cNvPr>
          <p:cNvSpPr>
            <a:spLocks noGrp="1"/>
          </p:cNvSpPr>
          <p:nvPr/>
        </p:nvSpPr>
        <p:spPr>
          <a:xfrm>
            <a:off x="5343650" y="2076450"/>
            <a:ext cx="1504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900" b="1">
                <a:solidFill>
                  <a:srgbClr val="FBBC0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BBC05"/>
                </a:solidFill>
                <a:latin typeface="+mn-ea"/>
                <a:cs typeface="Space Grotesk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87D547-BEBF-4C3C-9E0E-72D872C5A1EA}"/>
              </a:ext>
            </a:extLst>
          </p:cNvPr>
          <p:cNvSpPr>
            <a:spLocks noGrp="1"/>
          </p:cNvSpPr>
          <p:nvPr/>
        </p:nvSpPr>
        <p:spPr>
          <a:xfrm>
            <a:off x="5343650" y="28384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Experiments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FF56BA-3F00-45D0-A80D-B9DDAE4FC903}"/>
              </a:ext>
            </a:extLst>
          </p:cNvPr>
          <p:cNvSpPr>
            <a:spLocks noGrp="1"/>
          </p:cNvSpPr>
          <p:nvPr/>
        </p:nvSpPr>
        <p:spPr>
          <a:xfrm>
            <a:off x="5419850" y="33147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Results and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Analysis</a:t>
            </a:r>
          </a:p>
        </p:txBody>
      </p:sp>
      <p:sp>
        <p:nvSpPr>
          <p:cNvPr id="21" name="vertical-divider">
            <a:extLst>
              <a:ext uri="{FF2B5EF4-FFF2-40B4-BE49-F238E27FC236}">
                <a16:creationId xmlns:a16="http://schemas.microsoft.com/office/drawing/2014/main" id="{F3991624-4E26-45AB-9C80-B97EAADD2D1C}"/>
              </a:ext>
            </a:extLst>
          </p:cNvPr>
          <p:cNvSpPr>
            <a:spLocks noGrp="1"/>
          </p:cNvSpPr>
          <p:nvPr/>
        </p:nvSpPr>
        <p:spPr>
          <a:xfrm>
            <a:off x="7039100" y="2238375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5C6472">
                <a:alpha val="1800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2C2D07-805F-4C1E-9E1E-04DB616487FF}"/>
              </a:ext>
            </a:extLst>
          </p:cNvPr>
          <p:cNvSpPr>
            <a:spLocks noGrp="1"/>
          </p:cNvSpPr>
          <p:nvPr/>
        </p:nvSpPr>
        <p:spPr>
          <a:xfrm>
            <a:off x="7229600" y="2076450"/>
            <a:ext cx="1504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900" b="1">
                <a:solidFill>
                  <a:srgbClr val="34A853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34A853"/>
                </a:solidFill>
                <a:latin typeface="+mn-ea"/>
                <a:cs typeface="Space Grotesk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FBC844-C2C0-4C9C-AE76-7C30908910E0}"/>
              </a:ext>
            </a:extLst>
          </p:cNvPr>
          <p:cNvSpPr>
            <a:spLocks noGrp="1"/>
          </p:cNvSpPr>
          <p:nvPr/>
        </p:nvSpPr>
        <p:spPr>
          <a:xfrm>
            <a:off x="7229600" y="28384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Results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5AFC85-7EF1-4EA3-990D-0E7230FDC925}"/>
              </a:ext>
            </a:extLst>
          </p:cNvPr>
          <p:cNvSpPr>
            <a:spLocks noGrp="1"/>
          </p:cNvSpPr>
          <p:nvPr/>
        </p:nvSpPr>
        <p:spPr>
          <a:xfrm>
            <a:off x="7305800" y="33147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Key Findings and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Discussion</a:t>
            </a:r>
          </a:p>
        </p:txBody>
      </p:sp>
      <p:sp>
        <p:nvSpPr>
          <p:cNvPr id="25" name="vertical-divider">
            <a:extLst>
              <a:ext uri="{FF2B5EF4-FFF2-40B4-BE49-F238E27FC236}">
                <a16:creationId xmlns:a16="http://schemas.microsoft.com/office/drawing/2014/main" id="{D4EB717B-3D6F-4C60-97DC-49F4329151CD}"/>
              </a:ext>
            </a:extLst>
          </p:cNvPr>
          <p:cNvSpPr>
            <a:spLocks noGrp="1"/>
          </p:cNvSpPr>
          <p:nvPr/>
        </p:nvSpPr>
        <p:spPr>
          <a:xfrm>
            <a:off x="8925050" y="2238375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5C6472">
                <a:alpha val="1800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5046A4-0A10-44AD-8D88-B85C3612F1A9}"/>
              </a:ext>
            </a:extLst>
          </p:cNvPr>
          <p:cNvSpPr>
            <a:spLocks noGrp="1"/>
          </p:cNvSpPr>
          <p:nvPr/>
        </p:nvSpPr>
        <p:spPr>
          <a:xfrm>
            <a:off x="9115550" y="2076450"/>
            <a:ext cx="1504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900" b="1">
                <a:solidFill>
                  <a:srgbClr val="8B5CF6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8B5CF6"/>
                </a:solidFill>
                <a:latin typeface="+mn-ea"/>
                <a:cs typeface="Space Grotesk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582389-40DD-4995-87CD-E6EE041B3367}"/>
              </a:ext>
            </a:extLst>
          </p:cNvPr>
          <p:cNvSpPr>
            <a:spLocks noGrp="1"/>
          </p:cNvSpPr>
          <p:nvPr/>
        </p:nvSpPr>
        <p:spPr>
          <a:xfrm>
            <a:off x="9115550" y="28384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Conclusion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622904-6B28-474C-86BF-9B105AE6E184}"/>
              </a:ext>
            </a:extLst>
          </p:cNvPr>
          <p:cNvSpPr>
            <a:spLocks noGrp="1"/>
          </p:cNvSpPr>
          <p:nvPr/>
        </p:nvSpPr>
        <p:spPr>
          <a:xfrm>
            <a:off x="9191750" y="33147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Summary and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C6472"/>
                </a:solidFill>
                <a:latin typeface="+mn-ea"/>
                <a:cs typeface="Inter"/>
              </a:rPr>
              <a:t>Future Work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CDB74A-6170-446C-AFB9-51BA08AA3BA7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7142F"/>
                </a:solidFill>
                <a:latin typeface="+mn-ea"/>
                <a:cs typeface="Inter"/>
              </a:rPr>
              <a:t>02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7F1E3C-E15B-4ECF-B14B-21246594DE9B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71371770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2ADDE3-FB51-4072-8C35-EA8777881796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C2EBA2-174D-46EE-AA27-DF3E7DA407DC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3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35" b="1">
                <a:solidFill>
                  <a:srgbClr val="07142F"/>
                </a:solidFill>
                <a:latin typeface="+mn-ea"/>
                <a:cs typeface="Inter"/>
              </a:rPr>
              <a:t>SECTION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1DB5C5-D57E-4AD7-A510-DE9A572F2949}"/>
              </a:ext>
            </a:extLst>
          </p:cNvPr>
          <p:cNvSpPr>
            <a:spLocks noGrp="1"/>
          </p:cNvSpPr>
          <p:nvPr/>
        </p:nvSpPr>
        <p:spPr>
          <a:xfrm>
            <a:off x="914399" y="1902030"/>
            <a:ext cx="2828925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200" b="0">
                <a:solidFill>
                  <a:srgbClr val="4285F4"/>
                </a:solidFill>
                <a:latin typeface="Space Grotesk"/>
                <a:ea typeface="Space Grotesk"/>
                <a:cs typeface="Space Grotesk"/>
              </a:defRPr>
            </a:pPr>
            <a:r>
              <a:rPr sz="13200" b="0" dirty="0">
                <a:solidFill>
                  <a:srgbClr val="4285F4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5" name="vertical-divider">
            <a:extLst>
              <a:ext uri="{FF2B5EF4-FFF2-40B4-BE49-F238E27FC236}">
                <a16:creationId xmlns:a16="http://schemas.microsoft.com/office/drawing/2014/main" id="{6F2926D9-D94D-46AA-B458-49C2AC1B6BAA}"/>
              </a:ext>
            </a:extLst>
          </p:cNvPr>
          <p:cNvSpPr>
            <a:spLocks noGrp="1"/>
          </p:cNvSpPr>
          <p:nvPr/>
        </p:nvSpPr>
        <p:spPr>
          <a:xfrm>
            <a:off x="3733800" y="2168730"/>
            <a:ext cx="9525" cy="1543050"/>
          </a:xfrm>
          <a:custGeom>
            <a:avLst/>
            <a:gdLst/>
            <a:ahLst/>
            <a:cxnLst/>
            <a:rect l="0" t="0" r="0" b="0"/>
            <a:pathLst>
              <a:path w="9525" h="1543050">
                <a:moveTo>
                  <a:pt x="0" y="0"/>
                </a:moveTo>
                <a:lnTo>
                  <a:pt x="0" y="1543050"/>
                </a:lnTo>
              </a:path>
            </a:pathLst>
          </a:custGeom>
          <a:noFill/>
          <a:ln w="10478">
            <a:solidFill>
              <a:srgbClr val="5C6472">
                <a:alpha val="2800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02E40A-AE3A-43FC-8A86-36D50F4F9198}"/>
              </a:ext>
            </a:extLst>
          </p:cNvPr>
          <p:cNvSpPr>
            <a:spLocks noGrp="1"/>
          </p:cNvSpPr>
          <p:nvPr/>
        </p:nvSpPr>
        <p:spPr>
          <a:xfrm>
            <a:off x="4267200" y="2266950"/>
            <a:ext cx="4381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0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 dirty="0">
                <a:solidFill>
                  <a:srgbClr val="07142F"/>
                </a:solidFill>
                <a:latin typeface="+mn-ea"/>
                <a:cs typeface="Space Grotesk"/>
              </a:rPr>
              <a:t>Introduction</a:t>
            </a:r>
          </a:p>
        </p:txBody>
      </p:sp>
      <p:sp>
        <p:nvSpPr>
          <p:cNvPr id="7" name="lumia-aurora-title-bar-1">
            <a:extLst>
              <a:ext uri="{FF2B5EF4-FFF2-40B4-BE49-F238E27FC236}">
                <a16:creationId xmlns:a16="http://schemas.microsoft.com/office/drawing/2014/main" id="{7D1C46DA-9C5B-4A02-B836-EDCC87F3237D}"/>
              </a:ext>
            </a:extLst>
          </p:cNvPr>
          <p:cNvSpPr>
            <a:spLocks noGrp="1"/>
          </p:cNvSpPr>
          <p:nvPr/>
        </p:nvSpPr>
        <p:spPr>
          <a:xfrm>
            <a:off x="4305300" y="30670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8" name="lumia-aurora-title-bar-2">
            <a:extLst>
              <a:ext uri="{FF2B5EF4-FFF2-40B4-BE49-F238E27FC236}">
                <a16:creationId xmlns:a16="http://schemas.microsoft.com/office/drawing/2014/main" id="{BA540F2F-CD41-4F80-83DA-A05341FE4E62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9" name="lumia-aurora-title-bar-3">
            <a:extLst>
              <a:ext uri="{FF2B5EF4-FFF2-40B4-BE49-F238E27FC236}">
                <a16:creationId xmlns:a16="http://schemas.microsoft.com/office/drawing/2014/main" id="{B05A714F-3B54-4587-8100-0F4FAF3B3E3C}"/>
              </a:ext>
            </a:extLst>
          </p:cNvPr>
          <p:cNvSpPr>
            <a:spLocks noGrp="1"/>
          </p:cNvSpPr>
          <p:nvPr/>
        </p:nvSpPr>
        <p:spPr>
          <a:xfrm>
            <a:off x="4800600" y="30670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0" name="lumia-aurora-title-bar-4">
            <a:extLst>
              <a:ext uri="{FF2B5EF4-FFF2-40B4-BE49-F238E27FC236}">
                <a16:creationId xmlns:a16="http://schemas.microsoft.com/office/drawing/2014/main" id="{E73C02A3-3A62-4759-A52D-4BB401CF57FB}"/>
              </a:ext>
            </a:extLst>
          </p:cNvPr>
          <p:cNvSpPr>
            <a:spLocks noGrp="1"/>
          </p:cNvSpPr>
          <p:nvPr/>
        </p:nvSpPr>
        <p:spPr>
          <a:xfrm>
            <a:off x="5048250" y="30670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11" name="lumia-aurora-title-bar-5">
            <a:extLst>
              <a:ext uri="{FF2B5EF4-FFF2-40B4-BE49-F238E27FC236}">
                <a16:creationId xmlns:a16="http://schemas.microsoft.com/office/drawing/2014/main" id="{60BEFE13-E79F-4375-A77C-D7C4A686DEFD}"/>
              </a:ext>
            </a:extLst>
          </p:cNvPr>
          <p:cNvSpPr>
            <a:spLocks noGrp="1"/>
          </p:cNvSpPr>
          <p:nvPr/>
        </p:nvSpPr>
        <p:spPr>
          <a:xfrm>
            <a:off x="5295900" y="30670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6C5703-DF30-451E-A07A-B510734EB936}"/>
              </a:ext>
            </a:extLst>
          </p:cNvPr>
          <p:cNvSpPr>
            <a:spLocks noGrp="1"/>
          </p:cNvSpPr>
          <p:nvPr/>
        </p:nvSpPr>
        <p:spPr>
          <a:xfrm>
            <a:off x="4305300" y="33718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C6472"/>
                </a:solidFill>
                <a:latin typeface="+mn-ea"/>
                <a:cs typeface="Inter"/>
              </a:rPr>
              <a:t>Background and Motivation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D5B071-4339-4FB9-A752-F6EA8ACA1E6F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7142F"/>
                </a:solidFill>
                <a:latin typeface="+mn-ea"/>
                <a:cs typeface="Inter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BBF30F-505A-433C-BFD6-82478031CA4E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56404680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A121091-3D6B-4D21-AFB6-4942AFE15E53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405DEC-B246-40A6-BEA6-BEA6C5D2DB86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3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35" b="1">
                <a:solidFill>
                  <a:srgbClr val="07142F"/>
                </a:solidFill>
                <a:latin typeface="+mn-ea"/>
                <a:cs typeface="Inter"/>
              </a:rPr>
              <a:t>CONTENT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8F3A0-AFF4-43CA-BC4B-0D4CE007BD5C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1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 dirty="0">
                <a:solidFill>
                  <a:srgbClr val="07142F"/>
                </a:solidFill>
                <a:latin typeface="+mn-ea"/>
                <a:cs typeface="Space Grotesk"/>
              </a:rPr>
              <a:t>Slide Title Here</a:t>
            </a:r>
          </a:p>
        </p:txBody>
      </p:sp>
      <p:sp>
        <p:nvSpPr>
          <p:cNvPr id="5" name="lumia-aurora-title-bar-1">
            <a:extLst>
              <a:ext uri="{FF2B5EF4-FFF2-40B4-BE49-F238E27FC236}">
                <a16:creationId xmlns:a16="http://schemas.microsoft.com/office/drawing/2014/main" id="{6CCC5EE6-5E44-40E6-9DE3-7FA45047F8B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" name="lumia-aurora-title-bar-2">
            <a:extLst>
              <a:ext uri="{FF2B5EF4-FFF2-40B4-BE49-F238E27FC236}">
                <a16:creationId xmlns:a16="http://schemas.microsoft.com/office/drawing/2014/main" id="{0A6EB956-3CC0-473C-A8CE-CAA72BCC824E}"/>
              </a:ext>
            </a:extLst>
          </p:cNvPr>
          <p:cNvSpPr>
            <a:spLocks noGrp="1"/>
          </p:cNvSpPr>
          <p:nvPr/>
        </p:nvSpPr>
        <p:spPr>
          <a:xfrm>
            <a:off x="933450" y="14668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7" name="lumia-aurora-title-bar-3">
            <a:extLst>
              <a:ext uri="{FF2B5EF4-FFF2-40B4-BE49-F238E27FC236}">
                <a16:creationId xmlns:a16="http://schemas.microsoft.com/office/drawing/2014/main" id="{30A6AC33-A24A-4024-BAFA-5D334F5AD7EB}"/>
              </a:ext>
            </a:extLst>
          </p:cNvPr>
          <p:cNvSpPr>
            <a:spLocks noGrp="1"/>
          </p:cNvSpPr>
          <p:nvPr/>
        </p:nvSpPr>
        <p:spPr>
          <a:xfrm>
            <a:off x="1181100" y="14668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8" name="lumia-aurora-title-bar-4">
            <a:extLst>
              <a:ext uri="{FF2B5EF4-FFF2-40B4-BE49-F238E27FC236}">
                <a16:creationId xmlns:a16="http://schemas.microsoft.com/office/drawing/2014/main" id="{824DB0FD-BA3B-4227-8F2E-08EEA6C6ABD7}"/>
              </a:ext>
            </a:extLst>
          </p:cNvPr>
          <p:cNvSpPr>
            <a:spLocks noGrp="1"/>
          </p:cNvSpPr>
          <p:nvPr/>
        </p:nvSpPr>
        <p:spPr>
          <a:xfrm>
            <a:off x="1428750" y="14668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9" name="lumia-aurora-title-bar-5">
            <a:extLst>
              <a:ext uri="{FF2B5EF4-FFF2-40B4-BE49-F238E27FC236}">
                <a16:creationId xmlns:a16="http://schemas.microsoft.com/office/drawing/2014/main" id="{C1234BAD-0C34-4E33-BB8C-E67A523D9F90}"/>
              </a:ext>
            </a:extLst>
          </p:cNvPr>
          <p:cNvSpPr>
            <a:spLocks noGrp="1"/>
          </p:cNvSpPr>
          <p:nvPr/>
        </p:nvSpPr>
        <p:spPr>
          <a:xfrm>
            <a:off x="1676400" y="146685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41E989-BBAB-44A2-B695-2CA76B4DC42D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8768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+mn-ea"/>
                <a:cs typeface="Inter"/>
              </a:rPr>
              <a:t>Use this slide for the central message of a research result. The text stays quiet, while the visual evidence carries the comparison.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CF91D2-A662-45B9-9897-8A2B81022417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857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238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38" b="1" dirty="0">
                <a:solidFill>
                  <a:srgbClr val="5C6472"/>
                </a:solidFill>
                <a:latin typeface="+mn-ea"/>
                <a:cs typeface="Inter"/>
              </a:rPr>
              <a:t>Signal first:</a:t>
            </a:r>
            <a:r>
              <a:rPr sz="1238" dirty="0">
                <a:solidFill>
                  <a:srgbClr val="5C6472"/>
                </a:solidFill>
                <a:latin typeface="+mn-ea"/>
                <a:cs typeface="Inter"/>
              </a:rPr>
              <a:t> lead with the conclusion, then show the measurement.</a:t>
            </a:r>
          </a:p>
          <a:p>
            <a:pPr algn="l">
              <a:lnSpc>
                <a:spcPct val="125000"/>
              </a:lnSpc>
              <a:buNone/>
              <a:defRPr sz="1238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38" b="1" dirty="0">
                <a:solidFill>
                  <a:srgbClr val="5C6472"/>
                </a:solidFill>
                <a:latin typeface="+mn-ea"/>
                <a:cs typeface="Inter"/>
              </a:rPr>
              <a:t>Calm density:</a:t>
            </a:r>
            <a:r>
              <a:rPr sz="1238" dirty="0">
                <a:solidFill>
                  <a:srgbClr val="5C6472"/>
                </a:solidFill>
                <a:latin typeface="+mn-ea"/>
                <a:cs typeface="Inter"/>
              </a:rPr>
              <a:t> keep every object aligned to a clear reading path.</a:t>
            </a:r>
          </a:p>
        </p:txBody>
      </p:sp>
      <p:sp>
        <p:nvSpPr>
          <p:cNvPr id="12" name="bullet-dot">
            <a:extLst>
              <a:ext uri="{FF2B5EF4-FFF2-40B4-BE49-F238E27FC236}">
                <a16:creationId xmlns:a16="http://schemas.microsoft.com/office/drawing/2014/main" id="{86D1394A-47C0-45C2-AD25-826B9E339CF0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AB15EE-A605-40DD-9D43-4862751CD1C8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38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38" b="0">
                <a:solidFill>
                  <a:srgbClr val="5C6472"/>
                </a:solidFill>
                <a:latin typeface="+mn-ea"/>
                <a:cs typeface="Inter"/>
              </a:rPr>
              <a:t>State the research question before showing supporting detail.</a:t>
            </a:r>
          </a:p>
        </p:txBody>
      </p:sp>
      <p:sp>
        <p:nvSpPr>
          <p:cNvPr id="14" name="bullet-dot">
            <a:extLst>
              <a:ext uri="{FF2B5EF4-FFF2-40B4-BE49-F238E27FC236}">
                <a16:creationId xmlns:a16="http://schemas.microsoft.com/office/drawing/2014/main" id="{C2C8E875-B478-40BE-B49B-DB0FA9D7C6B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E6FEA6-3629-4F8E-948D-F52E9C520958}"/>
              </a:ext>
            </a:extLst>
          </p:cNvPr>
          <p:cNvSpPr>
            <a:spLocks noGrp="1"/>
          </p:cNvSpPr>
          <p:nvPr/>
        </p:nvSpPr>
        <p:spPr>
          <a:xfrm>
            <a:off x="895350" y="45815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38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38" b="0">
                <a:solidFill>
                  <a:srgbClr val="5C6472"/>
                </a:solidFill>
                <a:latin typeface="+mn-ea"/>
                <a:cs typeface="Inter"/>
              </a:rPr>
              <a:t>Use the right side for evidence, architecture, or ablation results.</a:t>
            </a:r>
          </a:p>
        </p:txBody>
      </p:sp>
      <p:sp>
        <p:nvSpPr>
          <p:cNvPr id="16" name="bullet-dot">
            <a:extLst>
              <a:ext uri="{FF2B5EF4-FFF2-40B4-BE49-F238E27FC236}">
                <a16:creationId xmlns:a16="http://schemas.microsoft.com/office/drawing/2014/main" id="{BEFE69A6-ABBF-4F0B-810D-7DE120E5062F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5DEA39-7DDD-48E5-834F-C7A945F8A8BB}"/>
              </a:ext>
            </a:extLst>
          </p:cNvPr>
          <p:cNvSpPr>
            <a:spLocks noGrp="1"/>
          </p:cNvSpPr>
          <p:nvPr/>
        </p:nvSpPr>
        <p:spPr>
          <a:xfrm>
            <a:off x="895350" y="4953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38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38" b="0">
                <a:solidFill>
                  <a:srgbClr val="5C6472"/>
                </a:solidFill>
                <a:latin typeface="+mn-ea"/>
                <a:cs typeface="Inter"/>
              </a:rPr>
              <a:t>Reserve saturated color for the logo, bars, and measured outcomes.</a:t>
            </a:r>
          </a:p>
        </p:txBody>
      </p:sp>
      <p:sp>
        <p:nvSpPr>
          <p:cNvPr id="18" name="bullet-dot">
            <a:extLst>
              <a:ext uri="{FF2B5EF4-FFF2-40B4-BE49-F238E27FC236}">
                <a16:creationId xmlns:a16="http://schemas.microsoft.com/office/drawing/2014/main" id="{8C030737-171E-4865-B857-2E4CDF45E8D0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179AB1-229A-4AF2-9CAE-C3E0CA0A843E}"/>
              </a:ext>
            </a:extLst>
          </p:cNvPr>
          <p:cNvSpPr>
            <a:spLocks noGrp="1"/>
          </p:cNvSpPr>
          <p:nvPr/>
        </p:nvSpPr>
        <p:spPr>
          <a:xfrm>
            <a:off x="895350" y="53244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38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38" b="0">
                <a:solidFill>
                  <a:srgbClr val="5C6472"/>
                </a:solidFill>
                <a:latin typeface="+mn-ea"/>
                <a:cs typeface="Inter"/>
              </a:rPr>
              <a:t>Let whitespace create the calm laboratory rhythm.</a:t>
            </a:r>
          </a:p>
        </p:txBody>
      </p:sp>
      <p:sp>
        <p:nvSpPr>
          <p:cNvPr id="20" name="performance-chart-card">
            <a:extLst>
              <a:ext uri="{FF2B5EF4-FFF2-40B4-BE49-F238E27FC236}">
                <a16:creationId xmlns:a16="http://schemas.microsoft.com/office/drawing/2014/main" id="{44B618C1-0438-43E3-85E3-3E7D561DF975}"/>
              </a:ext>
            </a:extLst>
          </p:cNvPr>
          <p:cNvSpPr>
            <a:spLocks noGrp="1"/>
          </p:cNvSpPr>
          <p:nvPr/>
        </p:nvSpPr>
        <p:spPr>
          <a:xfrm>
            <a:off x="7029450" y="1162050"/>
            <a:ext cx="4629150" cy="3943350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graphicFrame>
        <p:nvGraphicFramePr>
          <p:cNvPr id="44" name="Chart"/>
          <p:cNvGraphicFramePr/>
          <p:nvPr>
            <p:extLst>
              <p:ext uri="{D42A27DB-BD31-4B8C-83A1-F6EECF244321}">
                <p14:modId xmlns:p14="http://schemas.microsoft.com/office/powerpoint/2010/main" val="900856884"/>
              </p:ext>
            </p:extLst>
          </p:nvPr>
        </p:nvGraphicFramePr>
        <p:xfrm>
          <a:off x="7467600" y="1504950"/>
          <a:ext cx="37909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CA8A29B9-87F8-47CC-879A-97540DD7ABF4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7142F"/>
                </a:solidFill>
                <a:latin typeface="+mn-ea"/>
                <a:cs typeface="Inter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E1BBE3-0352-46A6-9C66-3132524BCFFF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0654717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A51A46D-4217-4913-87A7-8151B02AE7B7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F01762-331E-4DA0-B505-0CDB332640AB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3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35" b="1">
                <a:solidFill>
                  <a:srgbClr val="07142F"/>
                </a:solidFill>
                <a:latin typeface="+mn-ea"/>
                <a:cs typeface="Inter"/>
              </a:rPr>
              <a:t>FULL IMAGE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612FDA-E717-4665-ADE7-38B3AC1758CC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1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 dirty="0">
                <a:solidFill>
                  <a:srgbClr val="07142F"/>
                </a:solidFill>
                <a:latin typeface="+mn-ea"/>
                <a:cs typeface="Space Grotesk"/>
              </a:rPr>
              <a:t>Architecture Overview</a:t>
            </a:r>
          </a:p>
        </p:txBody>
      </p:sp>
      <p:sp>
        <p:nvSpPr>
          <p:cNvPr id="5" name="lumia-aurora-title-bar-1">
            <a:extLst>
              <a:ext uri="{FF2B5EF4-FFF2-40B4-BE49-F238E27FC236}">
                <a16:creationId xmlns:a16="http://schemas.microsoft.com/office/drawing/2014/main" id="{22F1CB92-3BEB-47AC-80FE-622BB7BA385A}"/>
              </a:ext>
            </a:extLst>
          </p:cNvPr>
          <p:cNvSpPr>
            <a:spLocks noGrp="1"/>
          </p:cNvSpPr>
          <p:nvPr/>
        </p:nvSpPr>
        <p:spPr>
          <a:xfrm>
            <a:off x="666750" y="140970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" name="lumia-aurora-title-bar-2">
            <a:extLst>
              <a:ext uri="{FF2B5EF4-FFF2-40B4-BE49-F238E27FC236}">
                <a16:creationId xmlns:a16="http://schemas.microsoft.com/office/drawing/2014/main" id="{2C8CC6BD-6AE5-4564-A6D7-CA97FD07B0E6}"/>
              </a:ext>
            </a:extLst>
          </p:cNvPr>
          <p:cNvSpPr>
            <a:spLocks noGrp="1"/>
          </p:cNvSpPr>
          <p:nvPr/>
        </p:nvSpPr>
        <p:spPr>
          <a:xfrm>
            <a:off x="914400" y="140970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7" name="lumia-aurora-title-bar-3">
            <a:extLst>
              <a:ext uri="{FF2B5EF4-FFF2-40B4-BE49-F238E27FC236}">
                <a16:creationId xmlns:a16="http://schemas.microsoft.com/office/drawing/2014/main" id="{134ABEEA-6E86-477C-9ECC-4F1BD9F21AAF}"/>
              </a:ext>
            </a:extLst>
          </p:cNvPr>
          <p:cNvSpPr>
            <a:spLocks noGrp="1"/>
          </p:cNvSpPr>
          <p:nvPr/>
        </p:nvSpPr>
        <p:spPr>
          <a:xfrm>
            <a:off x="1162050" y="140970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8" name="lumia-aurora-title-bar-4">
            <a:extLst>
              <a:ext uri="{FF2B5EF4-FFF2-40B4-BE49-F238E27FC236}">
                <a16:creationId xmlns:a16="http://schemas.microsoft.com/office/drawing/2014/main" id="{730B2068-BF67-4C43-B6D1-14FA49A72782}"/>
              </a:ext>
            </a:extLst>
          </p:cNvPr>
          <p:cNvSpPr>
            <a:spLocks noGrp="1"/>
          </p:cNvSpPr>
          <p:nvPr/>
        </p:nvSpPr>
        <p:spPr>
          <a:xfrm>
            <a:off x="1409700" y="140970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9" name="lumia-aurora-title-bar-5">
            <a:extLst>
              <a:ext uri="{FF2B5EF4-FFF2-40B4-BE49-F238E27FC236}">
                <a16:creationId xmlns:a16="http://schemas.microsoft.com/office/drawing/2014/main" id="{8EFA67A7-E529-471E-9B2D-3934BDA8A039}"/>
              </a:ext>
            </a:extLst>
          </p:cNvPr>
          <p:cNvSpPr>
            <a:spLocks noGrp="1"/>
          </p:cNvSpPr>
          <p:nvPr/>
        </p:nvSpPr>
        <p:spPr>
          <a:xfrm>
            <a:off x="1657350" y="1409700"/>
            <a:ext cx="171450" cy="2286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0" name="architecture-module">
            <a:extLst>
              <a:ext uri="{FF2B5EF4-FFF2-40B4-BE49-F238E27FC236}">
                <a16:creationId xmlns:a16="http://schemas.microsoft.com/office/drawing/2014/main" id="{8A0B7033-4C2F-4A96-9869-F5D35452ABA2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742950" cy="57150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7F0FF"/>
              </a:gs>
              <a:gs pos="100000">
                <a:srgbClr val="F8FBFF"/>
              </a:gs>
            </a:gsLst>
            <a:lin ang="8100000"/>
          </a:gradFill>
          <a:ln w="9525">
            <a:solidFill>
              <a:srgbClr val="BDD3FA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Input</a:t>
            </a:r>
          </a:p>
          <a:p>
            <a:pPr algn="ctr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Text</a:t>
            </a:r>
          </a:p>
        </p:txBody>
      </p:sp>
      <p:sp>
        <p:nvSpPr>
          <p:cNvPr id="11" name="architecture-module">
            <a:extLst>
              <a:ext uri="{FF2B5EF4-FFF2-40B4-BE49-F238E27FC236}">
                <a16:creationId xmlns:a16="http://schemas.microsoft.com/office/drawing/2014/main" id="{3FE07980-99FA-420F-8EE1-EE994A9C0972}"/>
              </a:ext>
            </a:extLst>
          </p:cNvPr>
          <p:cNvSpPr>
            <a:spLocks noGrp="1"/>
          </p:cNvSpPr>
          <p:nvPr/>
        </p:nvSpPr>
        <p:spPr>
          <a:xfrm>
            <a:off x="1962150" y="3333750"/>
            <a:ext cx="1104900" cy="57150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8F7EF"/>
              </a:gs>
              <a:gs pos="100000">
                <a:srgbClr val="F8FFFA"/>
              </a:gs>
            </a:gsLst>
            <a:lin ang="8100000"/>
          </a:gradFill>
          <a:ln w="9525">
            <a:solidFill>
              <a:srgbClr val="B7E0C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Tokenizer</a:t>
            </a:r>
          </a:p>
        </p:txBody>
      </p:sp>
      <p:sp>
        <p:nvSpPr>
          <p:cNvPr id="12" name="large-transformer-placeholder">
            <a:extLst>
              <a:ext uri="{FF2B5EF4-FFF2-40B4-BE49-F238E27FC236}">
                <a16:creationId xmlns:a16="http://schemas.microsoft.com/office/drawing/2014/main" id="{587D8E9A-DD70-43C2-8105-198D49A46704}"/>
              </a:ext>
            </a:extLst>
          </p:cNvPr>
          <p:cNvSpPr>
            <a:spLocks noGrp="1"/>
          </p:cNvSpPr>
          <p:nvPr/>
        </p:nvSpPr>
        <p:spPr>
          <a:xfrm>
            <a:off x="3448050" y="2381250"/>
            <a:ext cx="4781550" cy="257175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FFFFFF"/>
              </a:gs>
              <a:gs pos="33000">
                <a:srgbClr val="FFF6D8">
                  <a:alpha val="76000"/>
                </a:srgbClr>
              </a:gs>
              <a:gs pos="67000">
                <a:srgbClr val="F5ECFF">
                  <a:alpha val="70000"/>
                </a:srgbClr>
              </a:gs>
              <a:gs pos="100000">
                <a:srgbClr val="FFFFFF"/>
              </a:gs>
            </a:gsLst>
            <a:lin ang="8100000"/>
          </a:gradFill>
          <a:ln w="9525">
            <a:solidFill>
              <a:srgbClr val="E8DF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BA7DD6-E3A9-4352-B1D0-E9E9641256A4}"/>
              </a:ext>
            </a:extLst>
          </p:cNvPr>
          <p:cNvSpPr>
            <a:spLocks noGrp="1"/>
          </p:cNvSpPr>
          <p:nvPr/>
        </p:nvSpPr>
        <p:spPr>
          <a:xfrm>
            <a:off x="3448050" y="2647950"/>
            <a:ext cx="4781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7142F"/>
                </a:solidFill>
                <a:latin typeface="+mn-ea"/>
                <a:cs typeface="Space Grotesk"/>
              </a:rPr>
              <a:t>Transformer System</a:t>
            </a:r>
          </a:p>
        </p:txBody>
      </p:sp>
      <p:sp>
        <p:nvSpPr>
          <p:cNvPr id="14" name="lumia-aurora-title-bar-1">
            <a:extLst>
              <a:ext uri="{FF2B5EF4-FFF2-40B4-BE49-F238E27FC236}">
                <a16:creationId xmlns:a16="http://schemas.microsoft.com/office/drawing/2014/main" id="{2325E991-E580-4D87-84A5-511204D648A6}"/>
              </a:ext>
            </a:extLst>
          </p:cNvPr>
          <p:cNvSpPr>
            <a:spLocks noGrp="1"/>
          </p:cNvSpPr>
          <p:nvPr/>
        </p:nvSpPr>
        <p:spPr>
          <a:xfrm>
            <a:off x="5095875" y="3000375"/>
            <a:ext cx="133350" cy="19050"/>
          </a:xfrm>
          <a:prstGeom prst="roundRect">
            <a:avLst>
              <a:gd name="adj" fmla="val 5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15" name="lumia-aurora-title-bar-2">
            <a:extLst>
              <a:ext uri="{FF2B5EF4-FFF2-40B4-BE49-F238E27FC236}">
                <a16:creationId xmlns:a16="http://schemas.microsoft.com/office/drawing/2014/main" id="{584BF085-BB00-47C0-A4B5-5AF53DEA25B1}"/>
              </a:ext>
            </a:extLst>
          </p:cNvPr>
          <p:cNvSpPr>
            <a:spLocks noGrp="1"/>
          </p:cNvSpPr>
          <p:nvPr/>
        </p:nvSpPr>
        <p:spPr>
          <a:xfrm>
            <a:off x="5295900" y="3000375"/>
            <a:ext cx="133350" cy="1905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6" name="lumia-aurora-title-bar-3">
            <a:extLst>
              <a:ext uri="{FF2B5EF4-FFF2-40B4-BE49-F238E27FC236}">
                <a16:creationId xmlns:a16="http://schemas.microsoft.com/office/drawing/2014/main" id="{196F1D5B-C669-4361-B4D6-FFBBDD66F6BC}"/>
              </a:ext>
            </a:extLst>
          </p:cNvPr>
          <p:cNvSpPr>
            <a:spLocks noGrp="1"/>
          </p:cNvSpPr>
          <p:nvPr/>
        </p:nvSpPr>
        <p:spPr>
          <a:xfrm>
            <a:off x="5495925" y="3000375"/>
            <a:ext cx="133350" cy="1905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7" name="lumia-aurora-title-bar-4">
            <a:extLst>
              <a:ext uri="{FF2B5EF4-FFF2-40B4-BE49-F238E27FC236}">
                <a16:creationId xmlns:a16="http://schemas.microsoft.com/office/drawing/2014/main" id="{FE8B0016-29E9-44CE-BB5A-D49A90C931DE}"/>
              </a:ext>
            </a:extLst>
          </p:cNvPr>
          <p:cNvSpPr>
            <a:spLocks noGrp="1"/>
          </p:cNvSpPr>
          <p:nvPr/>
        </p:nvSpPr>
        <p:spPr>
          <a:xfrm>
            <a:off x="5695950" y="3000375"/>
            <a:ext cx="133350" cy="190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18" name="lumia-aurora-title-bar-5">
            <a:extLst>
              <a:ext uri="{FF2B5EF4-FFF2-40B4-BE49-F238E27FC236}">
                <a16:creationId xmlns:a16="http://schemas.microsoft.com/office/drawing/2014/main" id="{C1A7573B-B9C3-41EB-BDC2-5D26141C076E}"/>
              </a:ext>
            </a:extLst>
          </p:cNvPr>
          <p:cNvSpPr>
            <a:spLocks noGrp="1"/>
          </p:cNvSpPr>
          <p:nvPr/>
        </p:nvSpPr>
        <p:spPr>
          <a:xfrm>
            <a:off x="5895975" y="3000375"/>
            <a:ext cx="133350" cy="1905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9" name="architecture-module">
            <a:extLst>
              <a:ext uri="{FF2B5EF4-FFF2-40B4-BE49-F238E27FC236}">
                <a16:creationId xmlns:a16="http://schemas.microsoft.com/office/drawing/2014/main" id="{BF7EF52A-35AD-4E5E-8BA3-0F68F5A867BA}"/>
              </a:ext>
            </a:extLst>
          </p:cNvPr>
          <p:cNvSpPr>
            <a:spLocks noGrp="1"/>
          </p:cNvSpPr>
          <p:nvPr/>
        </p:nvSpPr>
        <p:spPr>
          <a:xfrm>
            <a:off x="4095750" y="3390900"/>
            <a:ext cx="1314450" cy="457200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7D89D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6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65" b="0">
                <a:solidFill>
                  <a:srgbClr val="07142F"/>
                </a:solidFill>
                <a:latin typeface="+mn-ea"/>
                <a:cs typeface="Inter"/>
              </a:rPr>
              <a:t>Multi-Head</a:t>
            </a:r>
          </a:p>
          <a:p>
            <a:pPr algn="ctr">
              <a:defRPr sz="106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65" b="0">
                <a:solidFill>
                  <a:srgbClr val="07142F"/>
                </a:solidFill>
                <a:latin typeface="+mn-ea"/>
                <a:cs typeface="Inter"/>
              </a:rPr>
              <a:t>Attention</a:t>
            </a:r>
          </a:p>
        </p:txBody>
      </p:sp>
      <p:sp>
        <p:nvSpPr>
          <p:cNvPr id="20" name="architecture-module">
            <a:extLst>
              <a:ext uri="{FF2B5EF4-FFF2-40B4-BE49-F238E27FC236}">
                <a16:creationId xmlns:a16="http://schemas.microsoft.com/office/drawing/2014/main" id="{A7CD8802-A2D0-45AF-9C0D-6496705686C4}"/>
              </a:ext>
            </a:extLst>
          </p:cNvPr>
          <p:cNvSpPr>
            <a:spLocks noGrp="1"/>
          </p:cNvSpPr>
          <p:nvPr/>
        </p:nvSpPr>
        <p:spPr>
          <a:xfrm>
            <a:off x="5638800" y="3390900"/>
            <a:ext cx="1314450" cy="457200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D5BEF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6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65" b="0">
                <a:solidFill>
                  <a:srgbClr val="07142F"/>
                </a:solidFill>
                <a:latin typeface="+mn-ea"/>
                <a:cs typeface="Inter"/>
              </a:rPr>
              <a:t>Representation</a:t>
            </a:r>
          </a:p>
          <a:p>
            <a:pPr algn="ctr">
              <a:defRPr sz="106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65" b="0">
                <a:solidFill>
                  <a:srgbClr val="07142F"/>
                </a:solidFill>
                <a:latin typeface="+mn-ea"/>
                <a:cs typeface="Inter"/>
              </a:rPr>
              <a:t>Routing</a:t>
            </a:r>
          </a:p>
        </p:txBody>
      </p:sp>
      <p:sp>
        <p:nvSpPr>
          <p:cNvPr id="21" name="architecture-module">
            <a:extLst>
              <a:ext uri="{FF2B5EF4-FFF2-40B4-BE49-F238E27FC236}">
                <a16:creationId xmlns:a16="http://schemas.microsoft.com/office/drawing/2014/main" id="{B5CE37CB-D314-4455-A131-E28FBFFD3E73}"/>
              </a:ext>
            </a:extLst>
          </p:cNvPr>
          <p:cNvSpPr>
            <a:spLocks noGrp="1"/>
          </p:cNvSpPr>
          <p:nvPr/>
        </p:nvSpPr>
        <p:spPr>
          <a:xfrm>
            <a:off x="7181850" y="3390900"/>
            <a:ext cx="781050" cy="457200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BBD8FA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5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07142F"/>
                </a:solidFill>
                <a:latin typeface="+mn-ea"/>
                <a:cs typeface="Inter"/>
              </a:rPr>
              <a:t>Feed</a:t>
            </a:r>
          </a:p>
          <a:p>
            <a:pPr algn="ctr">
              <a:defRPr sz="105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07142F"/>
                </a:solidFill>
                <a:latin typeface="+mn-ea"/>
                <a:cs typeface="Inter"/>
              </a:rPr>
              <a:t>Forward</a:t>
            </a:r>
          </a:p>
        </p:txBody>
      </p:sp>
      <p:sp>
        <p:nvSpPr>
          <p:cNvPr id="22" name="architecture-module">
            <a:extLst>
              <a:ext uri="{FF2B5EF4-FFF2-40B4-BE49-F238E27FC236}">
                <a16:creationId xmlns:a16="http://schemas.microsoft.com/office/drawing/2014/main" id="{535B974C-65E1-4565-BEBF-603DBC33630D}"/>
              </a:ext>
            </a:extLst>
          </p:cNvPr>
          <p:cNvSpPr>
            <a:spLocks noGrp="1"/>
          </p:cNvSpPr>
          <p:nvPr/>
        </p:nvSpPr>
        <p:spPr>
          <a:xfrm>
            <a:off x="4095750" y="4152900"/>
            <a:ext cx="1314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E7D89D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13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7142F"/>
                </a:solidFill>
                <a:latin typeface="+mn-ea"/>
                <a:cs typeface="Inter"/>
              </a:rPr>
              <a:t>Norm</a:t>
            </a:r>
          </a:p>
        </p:txBody>
      </p:sp>
      <p:sp>
        <p:nvSpPr>
          <p:cNvPr id="23" name="architecture-module">
            <a:extLst>
              <a:ext uri="{FF2B5EF4-FFF2-40B4-BE49-F238E27FC236}">
                <a16:creationId xmlns:a16="http://schemas.microsoft.com/office/drawing/2014/main" id="{728161CB-E1CD-4361-80A6-AD26CA08EB91}"/>
              </a:ext>
            </a:extLst>
          </p:cNvPr>
          <p:cNvSpPr>
            <a:spLocks noGrp="1"/>
          </p:cNvSpPr>
          <p:nvPr/>
        </p:nvSpPr>
        <p:spPr>
          <a:xfrm>
            <a:off x="5638800" y="4152900"/>
            <a:ext cx="1314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5BEF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13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7142F"/>
                </a:solidFill>
                <a:latin typeface="+mn-ea"/>
                <a:cs typeface="Inter"/>
              </a:rPr>
              <a:t>Norm</a:t>
            </a:r>
          </a:p>
        </p:txBody>
      </p:sp>
      <p:sp>
        <p:nvSpPr>
          <p:cNvPr id="24" name="architecture-module">
            <a:extLst>
              <a:ext uri="{FF2B5EF4-FFF2-40B4-BE49-F238E27FC236}">
                <a16:creationId xmlns:a16="http://schemas.microsoft.com/office/drawing/2014/main" id="{D68126B2-CD5A-4D9A-882A-D985A45CAFD4}"/>
              </a:ext>
            </a:extLst>
          </p:cNvPr>
          <p:cNvSpPr>
            <a:spLocks noGrp="1"/>
          </p:cNvSpPr>
          <p:nvPr/>
        </p:nvSpPr>
        <p:spPr>
          <a:xfrm>
            <a:off x="7181850" y="4152900"/>
            <a:ext cx="7810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BBD8FA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13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07142F"/>
                </a:solidFill>
                <a:latin typeface="+mn-ea"/>
                <a:cs typeface="Inter"/>
              </a:rPr>
              <a:t>Norm</a:t>
            </a:r>
          </a:p>
        </p:txBody>
      </p:sp>
      <p:sp>
        <p:nvSpPr>
          <p:cNvPr id="25" name="architecture-module">
            <a:extLst>
              <a:ext uri="{FF2B5EF4-FFF2-40B4-BE49-F238E27FC236}">
                <a16:creationId xmlns:a16="http://schemas.microsoft.com/office/drawing/2014/main" id="{8903F343-DF87-4CCA-8EF7-90CDA061476B}"/>
              </a:ext>
            </a:extLst>
          </p:cNvPr>
          <p:cNvSpPr>
            <a:spLocks noGrp="1"/>
          </p:cNvSpPr>
          <p:nvPr/>
        </p:nvSpPr>
        <p:spPr>
          <a:xfrm>
            <a:off x="8839200" y="3333750"/>
            <a:ext cx="1200150" cy="628650"/>
          </a:xfrm>
          <a:prstGeom prst="roundRect">
            <a:avLst>
              <a:gd name="adj" fmla="val 12121"/>
            </a:avLst>
          </a:prstGeom>
          <a:gradFill>
            <a:gsLst>
              <a:gs pos="0">
                <a:srgbClr val="FFE6F2">
                  <a:alpha val="70000"/>
                </a:srgbClr>
              </a:gs>
              <a:gs pos="100000">
                <a:srgbClr val="FFF9FC"/>
              </a:gs>
            </a:gsLst>
            <a:lin ang="8100000"/>
          </a:gradFill>
          <a:ln w="9525">
            <a:solidFill>
              <a:srgbClr val="F4BEDA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12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7142F"/>
                </a:solidFill>
                <a:latin typeface="+mn-ea"/>
                <a:cs typeface="Inter"/>
              </a:rPr>
              <a:t>Task Head</a:t>
            </a:r>
          </a:p>
        </p:txBody>
      </p:sp>
      <p:sp>
        <p:nvSpPr>
          <p:cNvPr id="26" name="architecture-module">
            <a:extLst>
              <a:ext uri="{FF2B5EF4-FFF2-40B4-BE49-F238E27FC236}">
                <a16:creationId xmlns:a16="http://schemas.microsoft.com/office/drawing/2014/main" id="{7AACFA4C-48CF-43E6-89BF-637B6A7239E9}"/>
              </a:ext>
            </a:extLst>
          </p:cNvPr>
          <p:cNvSpPr>
            <a:spLocks noGrp="1"/>
          </p:cNvSpPr>
          <p:nvPr/>
        </p:nvSpPr>
        <p:spPr>
          <a:xfrm>
            <a:off x="10591800" y="3333750"/>
            <a:ext cx="1219200" cy="628650"/>
          </a:xfrm>
          <a:prstGeom prst="roundRect">
            <a:avLst>
              <a:gd name="adj" fmla="val 12121"/>
            </a:avLst>
          </a:prstGeom>
          <a:gradFill>
            <a:gsLst>
              <a:gs pos="0">
                <a:srgbClr val="F1E8FF"/>
              </a:gs>
              <a:gs pos="100000">
                <a:srgbClr val="FBF8FF"/>
              </a:gs>
            </a:gsLst>
            <a:lin ang="8100000"/>
          </a:gradFill>
          <a:ln w="9525">
            <a:solidFill>
              <a:srgbClr val="CBB8F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Output</a:t>
            </a:r>
          </a:p>
          <a:p>
            <a:pPr algn="ctr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Probabilities</a:t>
            </a:r>
          </a:p>
        </p:txBody>
      </p:sp>
      <p:cxnSp>
        <p:nvCxnSpPr>
          <p:cNvPr id="67" name="直线箭头连接符 66"/>
          <p:cNvCxnSpPr>
            <a:stCxn id="10" idx="3"/>
            <a:endCxn id="11" idx="1"/>
          </p:cNvCxnSpPr>
          <p:nvPr/>
        </p:nvCxnSpPr>
        <p:spPr>
          <a:xfrm>
            <a:off x="1466850" y="3619500"/>
            <a:ext cx="495300" cy="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68" name="直线箭头连接符 67"/>
          <p:cNvCxnSpPr>
            <a:stCxn id="11" idx="3"/>
            <a:endCxn id="12" idx="1"/>
          </p:cNvCxnSpPr>
          <p:nvPr/>
        </p:nvCxnSpPr>
        <p:spPr>
          <a:xfrm>
            <a:off x="3067050" y="3619500"/>
            <a:ext cx="381000" cy="47625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69" name="直线箭头连接符 68"/>
          <p:cNvCxnSpPr>
            <a:stCxn id="12" idx="3"/>
            <a:endCxn id="25" idx="1"/>
          </p:cNvCxnSpPr>
          <p:nvPr/>
        </p:nvCxnSpPr>
        <p:spPr>
          <a:xfrm flipV="1">
            <a:off x="8229600" y="3648075"/>
            <a:ext cx="609600" cy="1905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70" name="直线箭头连接符 69"/>
          <p:cNvCxnSpPr>
            <a:stCxn id="25" idx="3"/>
            <a:endCxn id="26" idx="1"/>
          </p:cNvCxnSpPr>
          <p:nvPr/>
        </p:nvCxnSpPr>
        <p:spPr>
          <a:xfrm>
            <a:off x="10039350" y="3648075"/>
            <a:ext cx="552450" cy="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71" name="直线箭头连接符 70"/>
          <p:cNvCxnSpPr>
            <a:stCxn id="19" idx="3"/>
            <a:endCxn id="20" idx="1"/>
          </p:cNvCxnSpPr>
          <p:nvPr/>
        </p:nvCxnSpPr>
        <p:spPr>
          <a:xfrm>
            <a:off x="5410200" y="3619500"/>
            <a:ext cx="228600" cy="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72" name="直线箭头连接符 71"/>
          <p:cNvCxnSpPr>
            <a:stCxn id="20" idx="3"/>
            <a:endCxn id="21" idx="1"/>
          </p:cNvCxnSpPr>
          <p:nvPr/>
        </p:nvCxnSpPr>
        <p:spPr>
          <a:xfrm>
            <a:off x="6953250" y="3619500"/>
            <a:ext cx="228600" cy="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73" name="直线箭头连接符 72"/>
          <p:cNvCxnSpPr>
            <a:stCxn id="22" idx="3"/>
            <a:endCxn id="23" idx="1"/>
          </p:cNvCxnSpPr>
          <p:nvPr/>
        </p:nvCxnSpPr>
        <p:spPr>
          <a:xfrm>
            <a:off x="5410200" y="4314825"/>
            <a:ext cx="228600" cy="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cxnSp>
        <p:nvCxnSpPr>
          <p:cNvPr id="74" name="直线箭头连接符 73"/>
          <p:cNvCxnSpPr>
            <a:stCxn id="23" idx="3"/>
            <a:endCxn id="24" idx="1"/>
          </p:cNvCxnSpPr>
          <p:nvPr/>
        </p:nvCxnSpPr>
        <p:spPr>
          <a:xfrm>
            <a:off x="6953250" y="4314825"/>
            <a:ext cx="228600" cy="0"/>
          </a:xfrm>
          <a:prstGeom prst="straightConnector1">
            <a:avLst/>
          </a:prstGeom>
          <a:ln w="9525" cap="rnd">
            <a:solidFill>
              <a:srgbClr val="8E98A8">
                <a:alpha val="68000"/>
              </a:srgbClr>
            </a:solidFill>
            <a:prstDash val="solid"/>
            <a:tailEnd type="triangle" w="sm" len="sm"/>
          </a:ln>
        </p:spPr>
      </p:cxnSp>
      <p:sp>
        <p:nvSpPr>
          <p:cNvPr id="35" name="architecture-flow">
            <a:extLst>
              <a:ext uri="{FF2B5EF4-FFF2-40B4-BE49-F238E27FC236}">
                <a16:creationId xmlns:a16="http://schemas.microsoft.com/office/drawing/2014/main" id="{2937DDAC-C577-43D6-AB0D-52FE00F47F22}"/>
              </a:ext>
            </a:extLst>
          </p:cNvPr>
          <p:cNvSpPr>
            <a:spLocks noGrp="1"/>
          </p:cNvSpPr>
          <p:nvPr/>
        </p:nvSpPr>
        <p:spPr>
          <a:xfrm>
            <a:off x="4752975" y="3848100"/>
            <a:ext cx="9525" cy="304800"/>
          </a:xfrm>
          <a:custGeom>
            <a:avLst/>
            <a:gdLst/>
            <a:ahLst/>
            <a:cxnLst/>
            <a:rect l="0" t="0" r="0" b="0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8096">
            <a:solidFill>
              <a:srgbClr val="8E98A8">
                <a:alpha val="44000"/>
              </a:srgbClr>
            </a:solidFill>
            <a:prstDash val="solid"/>
          </a:ln>
        </p:spPr>
      </p:sp>
      <p:sp>
        <p:nvSpPr>
          <p:cNvPr id="36" name="architecture-flow">
            <a:extLst>
              <a:ext uri="{FF2B5EF4-FFF2-40B4-BE49-F238E27FC236}">
                <a16:creationId xmlns:a16="http://schemas.microsoft.com/office/drawing/2014/main" id="{B1F997BE-7621-4458-8AD1-A161D04FAB3C}"/>
              </a:ext>
            </a:extLst>
          </p:cNvPr>
          <p:cNvSpPr>
            <a:spLocks noGrp="1"/>
          </p:cNvSpPr>
          <p:nvPr/>
        </p:nvSpPr>
        <p:spPr>
          <a:xfrm>
            <a:off x="6296025" y="3848100"/>
            <a:ext cx="9525" cy="304800"/>
          </a:xfrm>
          <a:custGeom>
            <a:avLst/>
            <a:gdLst/>
            <a:ahLst/>
            <a:cxnLst/>
            <a:rect l="0" t="0" r="0" b="0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8096">
            <a:solidFill>
              <a:srgbClr val="8E98A8">
                <a:alpha val="44000"/>
              </a:srgbClr>
            </a:solidFill>
            <a:prstDash val="solid"/>
          </a:ln>
        </p:spPr>
      </p:sp>
      <p:sp>
        <p:nvSpPr>
          <p:cNvPr id="37" name="architecture-flow">
            <a:extLst>
              <a:ext uri="{FF2B5EF4-FFF2-40B4-BE49-F238E27FC236}">
                <a16:creationId xmlns:a16="http://schemas.microsoft.com/office/drawing/2014/main" id="{672CB3DD-68BD-4F85-8CF9-6CD9DCAE9456}"/>
              </a:ext>
            </a:extLst>
          </p:cNvPr>
          <p:cNvSpPr>
            <a:spLocks noGrp="1"/>
          </p:cNvSpPr>
          <p:nvPr/>
        </p:nvSpPr>
        <p:spPr>
          <a:xfrm>
            <a:off x="7572375" y="3848100"/>
            <a:ext cx="9525" cy="304800"/>
          </a:xfrm>
          <a:custGeom>
            <a:avLst/>
            <a:gdLst/>
            <a:ahLst/>
            <a:cxnLst/>
            <a:rect l="0" t="0" r="0" b="0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8096">
            <a:solidFill>
              <a:srgbClr val="8E98A8">
                <a:alpha val="4400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559C6F-0CA7-4A7D-B610-255B851B00D0}"/>
              </a:ext>
            </a:extLst>
          </p:cNvPr>
          <p:cNvSpPr>
            <a:spLocks noGrp="1"/>
          </p:cNvSpPr>
          <p:nvPr/>
        </p:nvSpPr>
        <p:spPr>
          <a:xfrm>
            <a:off x="7886700" y="46672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+mn-ea"/>
                <a:cs typeface="Inter"/>
              </a:rPr>
              <a:t>x L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89B3E3-B197-4260-ACC8-556086064792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7142F"/>
                </a:solidFill>
                <a:latin typeface="+mn-ea"/>
                <a:cs typeface="Inter"/>
              </a:rPr>
              <a:t>05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7EC2B94-A2B0-40F9-ABBF-20B76A19AFE7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62360997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6794AD4-1CC5-4FC7-9E96-A66234105FC3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A7BCC1-0A70-4DB0-8563-D83B88EC5154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3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35" b="1">
                <a:solidFill>
                  <a:srgbClr val="07142F"/>
                </a:solidFill>
                <a:latin typeface="Inter"/>
                <a:ea typeface="Inter"/>
                <a:cs typeface="Inter"/>
              </a:rPr>
              <a:t>THANK YOU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30728" y="2334123"/>
            <a:ext cx="1809749" cy="1809749"/>
          </a:xfrm>
          <a:prstGeom prst="rect">
            <a:avLst/>
          </a:prstGeom>
        </p:spPr>
      </p:pic>
      <p:sp>
        <p:nvSpPr>
          <p:cNvPr id="5" name="vertical-divider">
            <a:extLst>
              <a:ext uri="{FF2B5EF4-FFF2-40B4-BE49-F238E27FC236}">
                <a16:creationId xmlns:a16="http://schemas.microsoft.com/office/drawing/2014/main" id="{4693B83B-5A5C-46DB-B35A-09E141800AA8}"/>
              </a:ext>
            </a:extLst>
          </p:cNvPr>
          <p:cNvSpPr>
            <a:spLocks noGrp="1"/>
          </p:cNvSpPr>
          <p:nvPr/>
        </p:nvSpPr>
        <p:spPr>
          <a:xfrm>
            <a:off x="3873830" y="2362698"/>
            <a:ext cx="9525" cy="1752600"/>
          </a:xfrm>
          <a:custGeom>
            <a:avLst/>
            <a:gdLst/>
            <a:ahLst/>
            <a:cxnLst/>
            <a:rect l="0" t="0" r="0" b="0"/>
            <a:pathLst>
              <a:path w="9525" h="1752600">
                <a:moveTo>
                  <a:pt x="0" y="0"/>
                </a:moveTo>
                <a:lnTo>
                  <a:pt x="0" y="1752600"/>
                </a:lnTo>
              </a:path>
            </a:pathLst>
          </a:custGeom>
          <a:noFill/>
          <a:ln w="10478">
            <a:solidFill>
              <a:srgbClr val="5C6472">
                <a:alpha val="3200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3FFA92-5429-42AB-8695-7AFBA39292E5}"/>
              </a:ext>
            </a:extLst>
          </p:cNvPr>
          <p:cNvSpPr>
            <a:spLocks noGrp="1"/>
          </p:cNvSpPr>
          <p:nvPr/>
        </p:nvSpPr>
        <p:spPr>
          <a:xfrm>
            <a:off x="4388180" y="2477494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7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5700" b="1" dirty="0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Thank You</a:t>
            </a:r>
          </a:p>
        </p:txBody>
      </p:sp>
      <p:sp>
        <p:nvSpPr>
          <p:cNvPr id="7" name="lumia-aurora-title-bar-1">
            <a:extLst>
              <a:ext uri="{FF2B5EF4-FFF2-40B4-BE49-F238E27FC236}">
                <a16:creationId xmlns:a16="http://schemas.microsoft.com/office/drawing/2014/main" id="{7532DA17-F3C6-41FB-BA53-06F80CB139CD}"/>
              </a:ext>
            </a:extLst>
          </p:cNvPr>
          <p:cNvSpPr>
            <a:spLocks noGrp="1"/>
          </p:cNvSpPr>
          <p:nvPr/>
        </p:nvSpPr>
        <p:spPr>
          <a:xfrm>
            <a:off x="4426280" y="3451764"/>
            <a:ext cx="190500" cy="23813"/>
          </a:xfrm>
          <a:prstGeom prst="roundRect">
            <a:avLst>
              <a:gd name="adj" fmla="val 48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8" name="lumia-aurora-title-bar-2">
            <a:extLst>
              <a:ext uri="{FF2B5EF4-FFF2-40B4-BE49-F238E27FC236}">
                <a16:creationId xmlns:a16="http://schemas.microsoft.com/office/drawing/2014/main" id="{B36FA178-00B6-4127-8B98-39A38610A552}"/>
              </a:ext>
            </a:extLst>
          </p:cNvPr>
          <p:cNvSpPr>
            <a:spLocks noGrp="1"/>
          </p:cNvSpPr>
          <p:nvPr/>
        </p:nvSpPr>
        <p:spPr>
          <a:xfrm>
            <a:off x="4702505" y="3451764"/>
            <a:ext cx="190500" cy="23813"/>
          </a:xfrm>
          <a:prstGeom prst="roundRect">
            <a:avLst>
              <a:gd name="adj" fmla="val 48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9" name="lumia-aurora-title-bar-3">
            <a:extLst>
              <a:ext uri="{FF2B5EF4-FFF2-40B4-BE49-F238E27FC236}">
                <a16:creationId xmlns:a16="http://schemas.microsoft.com/office/drawing/2014/main" id="{4318F471-0010-46E0-8C2F-D2F8281F42CF}"/>
              </a:ext>
            </a:extLst>
          </p:cNvPr>
          <p:cNvSpPr>
            <a:spLocks noGrp="1"/>
          </p:cNvSpPr>
          <p:nvPr/>
        </p:nvSpPr>
        <p:spPr>
          <a:xfrm>
            <a:off x="4978730" y="3451764"/>
            <a:ext cx="190500" cy="23813"/>
          </a:xfrm>
          <a:prstGeom prst="roundRect">
            <a:avLst>
              <a:gd name="adj" fmla="val 48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0" name="lumia-aurora-title-bar-4">
            <a:extLst>
              <a:ext uri="{FF2B5EF4-FFF2-40B4-BE49-F238E27FC236}">
                <a16:creationId xmlns:a16="http://schemas.microsoft.com/office/drawing/2014/main" id="{1B0D2D20-4764-4970-9170-CE2EB8E5210B}"/>
              </a:ext>
            </a:extLst>
          </p:cNvPr>
          <p:cNvSpPr>
            <a:spLocks noGrp="1"/>
          </p:cNvSpPr>
          <p:nvPr/>
        </p:nvSpPr>
        <p:spPr>
          <a:xfrm>
            <a:off x="5254955" y="3451764"/>
            <a:ext cx="190500" cy="23813"/>
          </a:xfrm>
          <a:prstGeom prst="roundRect">
            <a:avLst>
              <a:gd name="adj" fmla="val 48000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11" name="lumia-aurora-title-bar-5">
            <a:extLst>
              <a:ext uri="{FF2B5EF4-FFF2-40B4-BE49-F238E27FC236}">
                <a16:creationId xmlns:a16="http://schemas.microsoft.com/office/drawing/2014/main" id="{41A4AA92-B6DF-47BF-AD14-00FE893B4345}"/>
              </a:ext>
            </a:extLst>
          </p:cNvPr>
          <p:cNvSpPr>
            <a:spLocks noGrp="1"/>
          </p:cNvSpPr>
          <p:nvPr/>
        </p:nvSpPr>
        <p:spPr>
          <a:xfrm>
            <a:off x="5531180" y="3451764"/>
            <a:ext cx="190500" cy="23813"/>
          </a:xfrm>
          <a:prstGeom prst="roundRect">
            <a:avLst>
              <a:gd name="adj" fmla="val 48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FE73DE-D035-4084-8266-061916969871}"/>
              </a:ext>
            </a:extLst>
          </p:cNvPr>
          <p:cNvSpPr>
            <a:spLocks noGrp="1"/>
          </p:cNvSpPr>
          <p:nvPr/>
        </p:nvSpPr>
        <p:spPr>
          <a:xfrm>
            <a:off x="4426280" y="3837714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Questions &amp; Discussion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11B887-432A-41A5-8E4F-7F75FA45D586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7142F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B009C3-125F-4FB2-A82F-9134698C0A3F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Inter"/>
                <a:ea typeface="Inter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76889691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hatGPT">
  <a:themeElements>
    <a:clrScheme name="LUMIA Aurora">
      <a:dk1>
        <a:srgbClr val="000000"/>
      </a:dk1>
      <a:lt1>
        <a:srgbClr val="FFFFFF"/>
      </a:lt1>
      <a:dk2>
        <a:srgbClr val="0C1734"/>
      </a:dk2>
      <a:lt2>
        <a:srgbClr val="F2F5FA"/>
      </a:lt2>
      <a:accent1>
        <a:srgbClr val="4285F4"/>
      </a:accent1>
      <a:accent2>
        <a:srgbClr val="8B5CF6"/>
      </a:accent2>
      <a:accent3>
        <a:srgbClr val="F472B6"/>
      </a:accent3>
      <a:accent4>
        <a:srgbClr val="34A853"/>
      </a:accent4>
      <a:accent5>
        <a:srgbClr val="FBBC05"/>
      </a:accent5>
      <a:accent6>
        <a:srgbClr val="60A5FA"/>
      </a:accent6>
      <a:hlink>
        <a:srgbClr val="4285F4"/>
      </a:hlink>
      <a:folHlink>
        <a:srgbClr val="8B5CF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Auror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34704" dir="4912194">
              <a:srgbClr val="000000">
                <a:alpha val="8000"/>
              </a:srgbClr>
            </a:outerShdw>
          </a:effectLst>
        </a:effectStyle>
        <a:effectStyle>
          <a:effectLst>
            <a:outerShdw blurRad="285750" dist="115877" dir="4832261">
              <a:srgbClr val="000000">
                <a:alpha val="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LUMIA Aurora">
      <a:dk1>
        <a:srgbClr val="000000"/>
      </a:dk1>
      <a:lt1>
        <a:srgbClr val="FFFFFF"/>
      </a:lt1>
      <a:dk2>
        <a:srgbClr val="0C1734"/>
      </a:dk2>
      <a:lt2>
        <a:srgbClr val="F2F5FA"/>
      </a:lt2>
      <a:accent1>
        <a:srgbClr val="4285F4"/>
      </a:accent1>
      <a:accent2>
        <a:srgbClr val="8B5CF6"/>
      </a:accent2>
      <a:accent3>
        <a:srgbClr val="F472B6"/>
      </a:accent3>
      <a:accent4>
        <a:srgbClr val="34A853"/>
      </a:accent4>
      <a:accent5>
        <a:srgbClr val="FBBC05"/>
      </a:accent5>
      <a:accent6>
        <a:srgbClr val="60A5FA"/>
      </a:accent6>
      <a:hlink>
        <a:srgbClr val="4285F4"/>
      </a:hlink>
      <a:folHlink>
        <a:srgbClr val="8B5CF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Auror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34704" dir="4912194">
              <a:srgbClr val="000000">
                <a:alpha val="8000"/>
              </a:srgbClr>
            </a:outerShdw>
          </a:effectLst>
        </a:effectStyle>
        <a:effectStyle>
          <a:effectLst>
            <a:outerShdw blurRad="285750" dist="115877" dir="4832261">
              <a:srgbClr val="000000">
                <a:alpha val="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LUMIA Aurora">
      <a:dk1>
        <a:srgbClr val="000000"/>
      </a:dk1>
      <a:lt1>
        <a:srgbClr val="FFFFFF"/>
      </a:lt1>
      <a:dk2>
        <a:srgbClr val="0C1734"/>
      </a:dk2>
      <a:lt2>
        <a:srgbClr val="F2F5FA"/>
      </a:lt2>
      <a:accent1>
        <a:srgbClr val="4285F4"/>
      </a:accent1>
      <a:accent2>
        <a:srgbClr val="8B5CF6"/>
      </a:accent2>
      <a:accent3>
        <a:srgbClr val="F472B6"/>
      </a:accent3>
      <a:accent4>
        <a:srgbClr val="34A853"/>
      </a:accent4>
      <a:accent5>
        <a:srgbClr val="FBBC05"/>
      </a:accent5>
      <a:accent6>
        <a:srgbClr val="60A5FA"/>
      </a:accent6>
      <a:hlink>
        <a:srgbClr val="4285F4"/>
      </a:hlink>
      <a:folHlink>
        <a:srgbClr val="8B5CF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Auror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34704" dir="4912194">
              <a:srgbClr val="000000">
                <a:alpha val="8000"/>
              </a:srgbClr>
            </a:outerShdw>
          </a:effectLst>
        </a:effectStyle>
        <a:effectStyle>
          <a:effectLst>
            <a:outerShdw blurRad="285750" dist="115877" dir="4832261">
              <a:srgbClr val="000000">
                <a:alpha val="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206</Words>
  <Application>Microsoft Macintosh PowerPoint</Application>
  <DocSecurity>0</DocSecurity>
  <PresentationFormat>宽屏</PresentationFormat>
  <Paragraphs>83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Inter</vt:lpstr>
      <vt:lpstr>Space Grotesk</vt:lpstr>
      <vt:lpstr>Arial</vt:lpstr>
      <vt:lpstr>Calibri</vt:lpstr>
      <vt:lpstr>Calibri Light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WangYixuan</cp:lastModifiedBy>
  <cp:revision>17</cp:revision>
  <dcterms:created xsi:type="dcterms:W3CDTF">2026-07-03T09:58:14Z</dcterms:created>
  <dcterms:modified xsi:type="dcterms:W3CDTF">2026-07-04T23:24:04Z</dcterms:modified>
</cp:coreProperties>
</file>