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17" d="100"/>
          <a:sy n="117" d="100"/>
        </p:scale>
        <p:origin x="808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" sz="1650" b="1">
                <a:solidFill>
                  <a:srgbClr val="111827"/>
                </a:solidFill>
              </a:rPr>
              <a:t>Performance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Accuracy</c:v>
          </c:tx>
          <c:spPr>
            <a:solidFill>
              <a:srgbClr val="4285F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Lit>
              <c:ptCount val="4"/>
              <c:pt idx="0">
                <c:v>Model A</c:v>
              </c:pt>
              <c:pt idx="1">
                <c:v>Model B</c:v>
              </c:pt>
              <c:pt idx="2">
                <c:v>Model C</c:v>
              </c:pt>
              <c:pt idx="3">
                <c:v>Ours</c:v>
              </c:pt>
            </c:strLit>
          </c:cat>
          <c:val>
            <c:numLit>
              <c:formatCode>General</c:formatCode>
              <c:ptCount val="4"/>
              <c:pt idx="0">
                <c:v>74</c:v>
              </c:pt>
              <c:pt idx="1">
                <c:v>84</c:v>
              </c:pt>
              <c:pt idx="2">
                <c:v>79</c:v>
              </c:pt>
              <c:pt idx="3">
                <c:v>83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88D-5343-A459-42A10FB1F70F}"/>
            </c:ext>
          </c:extLst>
        </c:ser>
        <c:ser>
          <c:idx val="1"/>
          <c:order val="1"/>
          <c:tx>
            <c:v>F1 Score</c:v>
          </c:tx>
          <c:spPr>
            <a:solidFill>
              <a:srgbClr val="EA4335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Lit>
              <c:ptCount val="4"/>
              <c:pt idx="0">
                <c:v>Model A</c:v>
              </c:pt>
              <c:pt idx="1">
                <c:v>Model B</c:v>
              </c:pt>
              <c:pt idx="2">
                <c:v>Model C</c:v>
              </c:pt>
              <c:pt idx="3">
                <c:v>Ours</c:v>
              </c:pt>
            </c:strLit>
          </c:cat>
          <c:val>
            <c:numLit>
              <c:formatCode>General</c:formatCode>
              <c:ptCount val="4"/>
              <c:pt idx="0">
                <c:v>63</c:v>
              </c:pt>
              <c:pt idx="1">
                <c:v>73</c:v>
              </c:pt>
              <c:pt idx="2">
                <c:v>63</c:v>
              </c:pt>
              <c:pt idx="3">
                <c:v>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588D-5343-A459-42A10FB1F70F}"/>
            </c:ext>
          </c:extLst>
        </c:ser>
        <c:ser>
          <c:idx val="2"/>
          <c:order val="2"/>
          <c:tx>
            <c:v>EM</c:v>
          </c:tx>
          <c:spPr>
            <a:solidFill>
              <a:srgbClr val="FBBC05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Lit>
              <c:ptCount val="4"/>
              <c:pt idx="0">
                <c:v>Model A</c:v>
              </c:pt>
              <c:pt idx="1">
                <c:v>Model B</c:v>
              </c:pt>
              <c:pt idx="2">
                <c:v>Model C</c:v>
              </c:pt>
              <c:pt idx="3">
                <c:v>Ours</c:v>
              </c:pt>
            </c:strLit>
          </c:cat>
          <c:val>
            <c:numLit>
              <c:formatCode>General</c:formatCode>
              <c:ptCount val="4"/>
              <c:pt idx="0">
                <c:v>40</c:v>
              </c:pt>
              <c:pt idx="1">
                <c:v>61</c:v>
              </c:pt>
              <c:pt idx="2">
                <c:v>42</c:v>
              </c:pt>
              <c:pt idx="3">
                <c:v>84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588D-5343-A459-42A10FB1F70F}"/>
            </c:ext>
          </c:extLst>
        </c:ser>
        <c:ser>
          <c:idx val="3"/>
          <c:order val="3"/>
          <c:tx>
            <c:v>BLEU</c:v>
          </c:tx>
          <c:spPr>
            <a:solidFill>
              <a:srgbClr val="34A85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Lit>
              <c:ptCount val="4"/>
              <c:pt idx="0">
                <c:v>Model A</c:v>
              </c:pt>
              <c:pt idx="1">
                <c:v>Model B</c:v>
              </c:pt>
              <c:pt idx="2">
                <c:v>Model C</c:v>
              </c:pt>
              <c:pt idx="3">
                <c:v>Ours</c:v>
              </c:pt>
            </c:strLit>
          </c:cat>
          <c:val>
            <c:numLit>
              <c:formatCode>General</c:formatCode>
              <c:ptCount val="4"/>
              <c:pt idx="0">
                <c:v>26</c:v>
              </c:pt>
              <c:pt idx="1">
                <c:v>25</c:v>
              </c:pt>
              <c:pt idx="2">
                <c:v>26</c:v>
              </c:pt>
              <c:pt idx="3">
                <c:v>75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588D-5343-A459-42A10FB1F70F}"/>
            </c:ext>
          </c:extLst>
        </c:ser>
        <c:ser>
          <c:idx val="4"/>
          <c:order val="4"/>
          <c:tx>
            <c:v>ROUGE-L</c:v>
          </c:tx>
          <c:spPr>
            <a:solidFill>
              <a:srgbClr val="583B95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Lit>
              <c:ptCount val="4"/>
              <c:pt idx="0">
                <c:v>Model A</c:v>
              </c:pt>
              <c:pt idx="1">
                <c:v>Model B</c:v>
              </c:pt>
              <c:pt idx="2">
                <c:v>Model C</c:v>
              </c:pt>
              <c:pt idx="3">
                <c:v>Ours</c:v>
              </c:pt>
            </c:strLit>
          </c:cat>
          <c:val>
            <c:numLit>
              <c:formatCode>General</c:formatCode>
              <c:ptCount val="4"/>
              <c:pt idx="0">
                <c:v>60</c:v>
              </c:pt>
              <c:pt idx="1">
                <c:v>48</c:v>
              </c:pt>
              <c:pt idx="2">
                <c:v>60</c:v>
              </c:pt>
              <c:pt idx="3">
                <c:v>61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588D-5343-A459-42A10FB1F70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AAB2BF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11827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7620">
              <a:solidFill>
                <a:srgbClr val="E8ECF2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AAB2BF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11827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975">
              <a:solidFill>
                <a:srgbClr val="111827"/>
              </a:solidFill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UMIA Research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55D41687-8710-4141-90EB-F61A744D6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1333500"/>
            <a:ext cx="685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LUMIA LAB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UMIA Research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3B89AF5B-2015-464C-B7FA-79EFA833E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0" y="647700"/>
            <a:ext cx="5715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CONTENTS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UMIA Research 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4301C3AD-C2E6-439F-85A5-B626561EA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0" y="2247900"/>
            <a:ext cx="5334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Introduction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UMIA Researc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DEDD3FDF-DAAA-4359-8660-9847F1D55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19150"/>
            <a:ext cx="647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Slide Title Here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UMIA Research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B38B4F05-FA34-47C8-8C39-F7F6BB87D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19150"/>
            <a:ext cx="7048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Architecture Overview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UMIA Research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1DD01E11-AE10-4944-A896-BDA1E2808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500" y="2266950"/>
            <a:ext cx="47625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MIA Research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BA0977D-C3F3-4AF7-B955-6D28E60963B2}"/>
              </a:ext>
            </a:extLst>
          </p:cNvPr>
          <p:cNvSpPr>
            <a:spLocks noGrp="1"/>
          </p:cNvSpPr>
          <p:nvPr/>
        </p:nvSpPr>
        <p:spPr>
          <a:xfrm>
            <a:off x="381000" y="24765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350" b="1" dirty="0">
                <a:solidFill>
                  <a:srgbClr val="111827"/>
                </a:solidFill>
                <a:latin typeface="+mn-ea"/>
              </a:rPr>
              <a:t>01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0BD6A2-E335-4219-AE52-D26B4BFDEDBF}"/>
              </a:ext>
            </a:extLst>
          </p:cNvPr>
          <p:cNvSpPr>
            <a:spLocks noGrp="1"/>
          </p:cNvSpPr>
          <p:nvPr/>
        </p:nvSpPr>
        <p:spPr>
          <a:xfrm>
            <a:off x="990600" y="24765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125" b="1" dirty="0">
                <a:solidFill>
                  <a:srgbClr val="111827"/>
                </a:solidFill>
                <a:latin typeface="+mn-ea"/>
              </a:rPr>
              <a:t>COVER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85875" y="1428750"/>
            <a:ext cx="1773555" cy="1773555"/>
          </a:xfrm>
          <a:prstGeom prst="rect">
            <a:avLst/>
          </a:prstGeom>
        </p:spPr>
      </p:pic>
      <p:sp>
        <p:nvSpPr>
          <p:cNvPr id="4" name="vertical-divider">
            <a:extLst>
              <a:ext uri="{FF2B5EF4-FFF2-40B4-BE49-F238E27FC236}">
                <a16:creationId xmlns:a16="http://schemas.microsoft.com/office/drawing/2014/main" id="{F481B9F8-E072-454B-93BA-024E5F9D5266}"/>
              </a:ext>
            </a:extLst>
          </p:cNvPr>
          <p:cNvSpPr>
            <a:spLocks noGrp="1"/>
          </p:cNvSpPr>
          <p:nvPr/>
        </p:nvSpPr>
        <p:spPr>
          <a:xfrm>
            <a:off x="3048000" y="1428750"/>
            <a:ext cx="11430" cy="1714500"/>
          </a:xfrm>
          <a:prstGeom prst="rect">
            <a:avLst/>
          </a:prstGeom>
          <a:solidFill>
            <a:srgbClr val="D4DAE3">
              <a:alpha val="100000"/>
            </a:srgbClr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149A85E-E6B0-44C9-BB02-4BE9F059E1E9}"/>
              </a:ext>
            </a:extLst>
          </p:cNvPr>
          <p:cNvSpPr>
            <a:spLocks noGrp="1"/>
          </p:cNvSpPr>
          <p:nvPr/>
        </p:nvSpPr>
        <p:spPr>
          <a:xfrm>
            <a:off x="3429000" y="1333500"/>
            <a:ext cx="685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6750" b="1">
                <a:solidFill>
                  <a:srgbClr val="111827"/>
                </a:solidFill>
                <a:latin typeface="Space Grotesk"/>
                <a:ea typeface="Space Grotesk"/>
                <a:cs typeface="Space Grotesk"/>
              </a:defRPr>
            </a:pPr>
            <a:r>
              <a:rPr sz="6750" b="1" dirty="0">
                <a:solidFill>
                  <a:srgbClr val="111827"/>
                </a:solidFill>
                <a:latin typeface="+mn-ea"/>
              </a:rPr>
              <a:t>LUMIA LAB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70E0245-EE4C-4B50-B5D5-BB89A555F98B}"/>
              </a:ext>
            </a:extLst>
          </p:cNvPr>
          <p:cNvSpPr>
            <a:spLocks noGrp="1"/>
          </p:cNvSpPr>
          <p:nvPr/>
        </p:nvSpPr>
        <p:spPr>
          <a:xfrm>
            <a:off x="3429000" y="2438400"/>
            <a:ext cx="5810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5F6673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5F6673"/>
                </a:solidFill>
                <a:latin typeface="+mn-ea"/>
              </a:rPr>
              <a:t>Language Understanding and</a:t>
            </a:r>
          </a:p>
          <a:p>
            <a:pPr algn="l">
              <a:defRPr sz="2250" b="0">
                <a:solidFill>
                  <a:srgbClr val="5F6673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5F6673"/>
                </a:solidFill>
                <a:latin typeface="+mn-ea"/>
              </a:rPr>
              <a:t>Machine Intelligence Algorithms</a:t>
            </a:r>
          </a:p>
        </p:txBody>
      </p:sp>
      <p:sp>
        <p:nvSpPr>
          <p:cNvPr id="7" name="cover-five-color-line-1">
            <a:extLst>
              <a:ext uri="{FF2B5EF4-FFF2-40B4-BE49-F238E27FC236}">
                <a16:creationId xmlns:a16="http://schemas.microsoft.com/office/drawing/2014/main" id="{17074F5D-7DC0-4EE0-8516-273FA89652D9}"/>
              </a:ext>
            </a:extLst>
          </p:cNvPr>
          <p:cNvSpPr>
            <a:spLocks noGrp="1"/>
          </p:cNvSpPr>
          <p:nvPr/>
        </p:nvSpPr>
        <p:spPr>
          <a:xfrm>
            <a:off x="3429000" y="3390900"/>
            <a:ext cx="800100" cy="19050"/>
          </a:xfrm>
          <a:prstGeom prst="rect">
            <a:avLst/>
          </a:prstGeom>
          <a:solidFill>
            <a:srgbClr val="FBBC05"/>
          </a:solidFill>
          <a:ln w="0">
            <a:noFill/>
            <a:prstDash val="solid"/>
          </a:ln>
        </p:spPr>
      </p:sp>
      <p:sp>
        <p:nvSpPr>
          <p:cNvPr id="8" name="cover-five-color-line-2">
            <a:extLst>
              <a:ext uri="{FF2B5EF4-FFF2-40B4-BE49-F238E27FC236}">
                <a16:creationId xmlns:a16="http://schemas.microsoft.com/office/drawing/2014/main" id="{580EF3CA-1476-4023-A78A-8DB63E0F17A3}"/>
              </a:ext>
            </a:extLst>
          </p:cNvPr>
          <p:cNvSpPr>
            <a:spLocks noGrp="1"/>
          </p:cNvSpPr>
          <p:nvPr/>
        </p:nvSpPr>
        <p:spPr>
          <a:xfrm>
            <a:off x="4229100" y="3390900"/>
            <a:ext cx="800100" cy="19050"/>
          </a:xfrm>
          <a:prstGeom prst="rect">
            <a:avLst/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9" name="cover-five-color-line-3">
            <a:extLst>
              <a:ext uri="{FF2B5EF4-FFF2-40B4-BE49-F238E27FC236}">
                <a16:creationId xmlns:a16="http://schemas.microsoft.com/office/drawing/2014/main" id="{F09A3C15-FB6D-493A-BCC6-0DDB158AAF17}"/>
              </a:ext>
            </a:extLst>
          </p:cNvPr>
          <p:cNvSpPr>
            <a:spLocks noGrp="1"/>
          </p:cNvSpPr>
          <p:nvPr/>
        </p:nvSpPr>
        <p:spPr>
          <a:xfrm>
            <a:off x="5029200" y="3390900"/>
            <a:ext cx="800100" cy="19050"/>
          </a:xfrm>
          <a:prstGeom prst="rect">
            <a:avLst/>
          </a:prstGeom>
          <a:solidFill>
            <a:srgbClr val="EA4335"/>
          </a:solidFill>
          <a:ln w="0">
            <a:noFill/>
            <a:prstDash val="solid"/>
          </a:ln>
        </p:spPr>
      </p:sp>
      <p:sp>
        <p:nvSpPr>
          <p:cNvPr id="10" name="cover-five-color-line-4">
            <a:extLst>
              <a:ext uri="{FF2B5EF4-FFF2-40B4-BE49-F238E27FC236}">
                <a16:creationId xmlns:a16="http://schemas.microsoft.com/office/drawing/2014/main" id="{17B534E1-9BFA-4337-9B17-AE7ADCDC5091}"/>
              </a:ext>
            </a:extLst>
          </p:cNvPr>
          <p:cNvSpPr>
            <a:spLocks noGrp="1"/>
          </p:cNvSpPr>
          <p:nvPr/>
        </p:nvSpPr>
        <p:spPr>
          <a:xfrm>
            <a:off x="5829300" y="3390900"/>
            <a:ext cx="800100" cy="19050"/>
          </a:xfrm>
          <a:prstGeom prst="rect">
            <a:avLst/>
          </a:prstGeom>
          <a:solidFill>
            <a:srgbClr val="583B95"/>
          </a:solidFill>
          <a:ln w="0">
            <a:noFill/>
            <a:prstDash val="solid"/>
          </a:ln>
        </p:spPr>
      </p:sp>
      <p:sp>
        <p:nvSpPr>
          <p:cNvPr id="11" name="cover-five-color-line-5">
            <a:extLst>
              <a:ext uri="{FF2B5EF4-FFF2-40B4-BE49-F238E27FC236}">
                <a16:creationId xmlns:a16="http://schemas.microsoft.com/office/drawing/2014/main" id="{1A13F4B7-EE82-45E5-8BB8-716B31C7BF07}"/>
              </a:ext>
            </a:extLst>
          </p:cNvPr>
          <p:cNvSpPr>
            <a:spLocks noGrp="1"/>
          </p:cNvSpPr>
          <p:nvPr/>
        </p:nvSpPr>
        <p:spPr>
          <a:xfrm>
            <a:off x="6629400" y="3390900"/>
            <a:ext cx="800100" cy="19050"/>
          </a:xfrm>
          <a:prstGeom prst="rect">
            <a:avLst/>
          </a:prstGeom>
          <a:solidFill>
            <a:srgbClr val="34A853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5DD91AD-A27E-45E6-B595-F31D1944ABA5}"/>
              </a:ext>
            </a:extLst>
          </p:cNvPr>
          <p:cNvSpPr>
            <a:spLocks noGrp="1"/>
          </p:cNvSpPr>
          <p:nvPr/>
        </p:nvSpPr>
        <p:spPr>
          <a:xfrm>
            <a:off x="1333500" y="3924298"/>
            <a:ext cx="6688182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2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3200" b="1" dirty="0">
                <a:solidFill>
                  <a:srgbClr val="111827"/>
                </a:solidFill>
                <a:latin typeface="+mn-ea"/>
              </a:rPr>
              <a:t>Presentation Title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9CE0CD0-2A3F-42F0-B893-3AFE161B18F8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428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5F6673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5F6673"/>
                </a:solidFill>
                <a:latin typeface="+mn-ea"/>
              </a:rPr>
              <a:t>Presenter Name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75EF431-5320-4E8A-A986-A000D819534D}"/>
              </a:ext>
            </a:extLst>
          </p:cNvPr>
          <p:cNvSpPr>
            <a:spLocks noGrp="1"/>
          </p:cNvSpPr>
          <p:nvPr/>
        </p:nvSpPr>
        <p:spPr>
          <a:xfrm>
            <a:off x="1333500" y="485775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5F6673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5F6673"/>
                </a:solidFill>
                <a:latin typeface="+mn-ea"/>
              </a:rPr>
              <a:t>Institution   /   Date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759D06B-693C-4362-BAE0-952E7ADB8F58}"/>
              </a:ext>
            </a:extLst>
          </p:cNvPr>
          <p:cNvSpPr>
            <a:spLocks noGrp="1"/>
          </p:cNvSpPr>
          <p:nvPr/>
        </p:nvSpPr>
        <p:spPr>
          <a:xfrm>
            <a:off x="381000" y="63817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111827"/>
                </a:solidFill>
                <a:latin typeface="+mn-ea"/>
              </a:rPr>
              <a:t>01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0082236-FE9E-477C-ACF7-D83E2E84FE91}"/>
              </a:ext>
            </a:extLst>
          </p:cNvPr>
          <p:cNvSpPr>
            <a:spLocks noGrp="1"/>
          </p:cNvSpPr>
          <p:nvPr/>
        </p:nvSpPr>
        <p:spPr>
          <a:xfrm>
            <a:off x="10477500" y="638175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125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111827"/>
                </a:solidFill>
                <a:latin typeface="+mn-ea"/>
              </a:rPr>
              <a:t>LUMIA LAB</a:t>
            </a:r>
          </a:p>
        </p:txBody>
      </p:sp>
    </p:spTree>
    <p:extLst>
      <p:ext uri="{BB962C8B-B14F-4D97-AF65-F5344CB8AC3E}">
        <p14:creationId xmlns:p14="http://schemas.microsoft.com/office/powerpoint/2010/main" val="1193266927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33574D47-856C-4B2B-9515-44D3A29923E1}"/>
              </a:ext>
            </a:extLst>
          </p:cNvPr>
          <p:cNvSpPr>
            <a:spLocks noGrp="1"/>
          </p:cNvSpPr>
          <p:nvPr/>
        </p:nvSpPr>
        <p:spPr>
          <a:xfrm>
            <a:off x="381000" y="24765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11827"/>
                </a:solidFill>
                <a:latin typeface="+mn-ea"/>
                <a:cs typeface="Inter"/>
              </a:rPr>
              <a:t>02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B6B5757-0D60-4466-8CB1-E6B666393C2F}"/>
              </a:ext>
            </a:extLst>
          </p:cNvPr>
          <p:cNvSpPr>
            <a:spLocks noGrp="1"/>
          </p:cNvSpPr>
          <p:nvPr/>
        </p:nvSpPr>
        <p:spPr>
          <a:xfrm>
            <a:off x="990600" y="24765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125" b="1" dirty="0">
                <a:solidFill>
                  <a:srgbClr val="111827"/>
                </a:solidFill>
                <a:latin typeface="+mn-ea"/>
                <a:cs typeface="Inter"/>
              </a:rPr>
              <a:t>CONTENTS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9714E9-1090-4E56-ACF8-159B398FDDB5}"/>
              </a:ext>
            </a:extLst>
          </p:cNvPr>
          <p:cNvSpPr>
            <a:spLocks noGrp="1"/>
          </p:cNvSpPr>
          <p:nvPr/>
        </p:nvSpPr>
        <p:spPr>
          <a:xfrm>
            <a:off x="3238500" y="647700"/>
            <a:ext cx="5715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5550" b="1">
                <a:solidFill>
                  <a:srgbClr val="111827"/>
                </a:solidFill>
                <a:latin typeface="Space Grotesk"/>
                <a:ea typeface="Space Grotesk"/>
                <a:cs typeface="Space Grotesk"/>
              </a:defRPr>
            </a:pPr>
            <a:r>
              <a:rPr sz="5550" b="1" dirty="0">
                <a:solidFill>
                  <a:srgbClr val="111827"/>
                </a:solidFill>
                <a:latin typeface="+mn-ea"/>
                <a:cs typeface="Space Grotesk"/>
              </a:rPr>
              <a:t>CONTENTS</a:t>
            </a:r>
          </a:p>
        </p:txBody>
      </p:sp>
      <p:sp>
        <p:nvSpPr>
          <p:cNvPr id="4" name="contents-five-color-line-1">
            <a:extLst>
              <a:ext uri="{FF2B5EF4-FFF2-40B4-BE49-F238E27FC236}">
                <a16:creationId xmlns:a16="http://schemas.microsoft.com/office/drawing/2014/main" id="{18FB5C3E-1115-4187-A275-973BEB69F178}"/>
              </a:ext>
            </a:extLst>
          </p:cNvPr>
          <p:cNvSpPr>
            <a:spLocks noGrp="1"/>
          </p:cNvSpPr>
          <p:nvPr/>
        </p:nvSpPr>
        <p:spPr>
          <a:xfrm>
            <a:off x="5010150" y="1619250"/>
            <a:ext cx="342900" cy="19050"/>
          </a:xfrm>
          <a:prstGeom prst="rect">
            <a:avLst/>
          </a:prstGeom>
          <a:solidFill>
            <a:srgbClr val="FBBC05"/>
          </a:solidFill>
          <a:ln w="0">
            <a:noFill/>
            <a:prstDash val="solid"/>
          </a:ln>
        </p:spPr>
      </p:sp>
      <p:sp>
        <p:nvSpPr>
          <p:cNvPr id="5" name="contents-five-color-line-2">
            <a:extLst>
              <a:ext uri="{FF2B5EF4-FFF2-40B4-BE49-F238E27FC236}">
                <a16:creationId xmlns:a16="http://schemas.microsoft.com/office/drawing/2014/main" id="{9AEB223B-14EC-4A97-8E69-18036AD1B3B5}"/>
              </a:ext>
            </a:extLst>
          </p:cNvPr>
          <p:cNvSpPr>
            <a:spLocks noGrp="1"/>
          </p:cNvSpPr>
          <p:nvPr/>
        </p:nvSpPr>
        <p:spPr>
          <a:xfrm>
            <a:off x="5467350" y="1619250"/>
            <a:ext cx="342900" cy="19050"/>
          </a:xfrm>
          <a:prstGeom prst="rect">
            <a:avLst/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6" name="contents-five-color-line-3">
            <a:extLst>
              <a:ext uri="{FF2B5EF4-FFF2-40B4-BE49-F238E27FC236}">
                <a16:creationId xmlns:a16="http://schemas.microsoft.com/office/drawing/2014/main" id="{FE252153-0A87-4ACC-A2C2-784ED218EAA8}"/>
              </a:ext>
            </a:extLst>
          </p:cNvPr>
          <p:cNvSpPr>
            <a:spLocks noGrp="1"/>
          </p:cNvSpPr>
          <p:nvPr/>
        </p:nvSpPr>
        <p:spPr>
          <a:xfrm>
            <a:off x="5924550" y="1619250"/>
            <a:ext cx="342900" cy="19050"/>
          </a:xfrm>
          <a:prstGeom prst="rect">
            <a:avLst/>
          </a:prstGeom>
          <a:solidFill>
            <a:srgbClr val="EA4335"/>
          </a:solidFill>
          <a:ln w="0">
            <a:noFill/>
            <a:prstDash val="solid"/>
          </a:ln>
        </p:spPr>
      </p:sp>
      <p:sp>
        <p:nvSpPr>
          <p:cNvPr id="7" name="contents-five-color-line-4">
            <a:extLst>
              <a:ext uri="{FF2B5EF4-FFF2-40B4-BE49-F238E27FC236}">
                <a16:creationId xmlns:a16="http://schemas.microsoft.com/office/drawing/2014/main" id="{DAC13AB7-6CB9-4B8E-82D9-0417EED79DBB}"/>
              </a:ext>
            </a:extLst>
          </p:cNvPr>
          <p:cNvSpPr>
            <a:spLocks noGrp="1"/>
          </p:cNvSpPr>
          <p:nvPr/>
        </p:nvSpPr>
        <p:spPr>
          <a:xfrm>
            <a:off x="6381750" y="1619250"/>
            <a:ext cx="342900" cy="19050"/>
          </a:xfrm>
          <a:prstGeom prst="rect">
            <a:avLst/>
          </a:prstGeom>
          <a:solidFill>
            <a:srgbClr val="583B95"/>
          </a:solidFill>
          <a:ln w="0">
            <a:noFill/>
            <a:prstDash val="solid"/>
          </a:ln>
        </p:spPr>
      </p:sp>
      <p:sp>
        <p:nvSpPr>
          <p:cNvPr id="8" name="contents-five-color-line-5">
            <a:extLst>
              <a:ext uri="{FF2B5EF4-FFF2-40B4-BE49-F238E27FC236}">
                <a16:creationId xmlns:a16="http://schemas.microsoft.com/office/drawing/2014/main" id="{70E2DB0C-02F2-4AEC-ACD5-2CD623AD8288}"/>
              </a:ext>
            </a:extLst>
          </p:cNvPr>
          <p:cNvSpPr>
            <a:spLocks noGrp="1"/>
          </p:cNvSpPr>
          <p:nvPr/>
        </p:nvSpPr>
        <p:spPr>
          <a:xfrm>
            <a:off x="6838950" y="1619250"/>
            <a:ext cx="342900" cy="19050"/>
          </a:xfrm>
          <a:prstGeom prst="rect">
            <a:avLst/>
          </a:prstGeom>
          <a:solidFill>
            <a:srgbClr val="34A853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A95CBA9-DF18-4930-9A9D-956759A2359E}"/>
              </a:ext>
            </a:extLst>
          </p:cNvPr>
          <p:cNvSpPr>
            <a:spLocks noGrp="1"/>
          </p:cNvSpPr>
          <p:nvPr/>
        </p:nvSpPr>
        <p:spPr>
          <a:xfrm>
            <a:off x="1162050" y="2247900"/>
            <a:ext cx="11811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4800" b="1">
                <a:solidFill>
                  <a:srgbClr val="111827"/>
                </a:solidFill>
                <a:latin typeface="Space Grotesk"/>
                <a:ea typeface="Space Grotesk"/>
                <a:cs typeface="Space Grotesk"/>
              </a:defRPr>
            </a:pPr>
            <a:r>
              <a:rPr sz="4800" b="1">
                <a:solidFill>
                  <a:srgbClr val="111827"/>
                </a:solidFill>
                <a:latin typeface="+mn-ea"/>
                <a:cs typeface="Space Grotesk"/>
              </a:rPr>
              <a:t>01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1CC92DF-ADA5-41AB-9B3B-0170B00ADD65}"/>
              </a:ext>
            </a:extLst>
          </p:cNvPr>
          <p:cNvSpPr>
            <a:spLocks noGrp="1"/>
          </p:cNvSpPr>
          <p:nvPr/>
        </p:nvSpPr>
        <p:spPr>
          <a:xfrm>
            <a:off x="857250" y="3086100"/>
            <a:ext cx="179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9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111827"/>
                </a:solidFill>
                <a:latin typeface="+mn-ea"/>
                <a:cs typeface="Inter"/>
              </a:rPr>
              <a:t>Introduction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6B2B24F-01B9-4E65-8C01-28CE8BA3D4D9}"/>
              </a:ext>
            </a:extLst>
          </p:cNvPr>
          <p:cNvSpPr>
            <a:spLocks noGrp="1"/>
          </p:cNvSpPr>
          <p:nvPr/>
        </p:nvSpPr>
        <p:spPr>
          <a:xfrm>
            <a:off x="838200" y="3619500"/>
            <a:ext cx="1828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0">
                <a:solidFill>
                  <a:srgbClr val="5F66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5F6673"/>
                </a:solidFill>
                <a:latin typeface="+mn-ea"/>
                <a:cs typeface="Inter"/>
              </a:rPr>
              <a:t>Background and</a:t>
            </a:r>
          </a:p>
          <a:p>
            <a:pPr algn="ctr">
              <a:defRPr sz="1575" b="0">
                <a:solidFill>
                  <a:srgbClr val="5F66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5F6673"/>
                </a:solidFill>
                <a:latin typeface="+mn-ea"/>
                <a:cs typeface="Inter"/>
              </a:rPr>
              <a:t>Motivation</a:t>
            </a:r>
          </a:p>
        </p:txBody>
      </p:sp>
      <p:sp>
        <p:nvSpPr>
          <p:cNvPr id="12" name="vertical-divider">
            <a:extLst>
              <a:ext uri="{FF2B5EF4-FFF2-40B4-BE49-F238E27FC236}">
                <a16:creationId xmlns:a16="http://schemas.microsoft.com/office/drawing/2014/main" id="{8B43E095-8490-405A-93DF-0CD19A38A7C7}"/>
              </a:ext>
            </a:extLst>
          </p:cNvPr>
          <p:cNvSpPr>
            <a:spLocks noGrp="1"/>
          </p:cNvSpPr>
          <p:nvPr/>
        </p:nvSpPr>
        <p:spPr>
          <a:xfrm>
            <a:off x="2838450" y="2457450"/>
            <a:ext cx="11430" cy="1428750"/>
          </a:xfrm>
          <a:prstGeom prst="rect">
            <a:avLst/>
          </a:prstGeom>
          <a:solidFill>
            <a:srgbClr val="D4DAE3">
              <a:alpha val="75000"/>
            </a:srgbClr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B47E1E-F334-4C61-A419-9DF8C0F8D5AC}"/>
              </a:ext>
            </a:extLst>
          </p:cNvPr>
          <p:cNvSpPr>
            <a:spLocks noGrp="1"/>
          </p:cNvSpPr>
          <p:nvPr/>
        </p:nvSpPr>
        <p:spPr>
          <a:xfrm>
            <a:off x="3333750" y="2247900"/>
            <a:ext cx="11811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4800" b="1">
                <a:solidFill>
                  <a:srgbClr val="111827"/>
                </a:solidFill>
                <a:latin typeface="Space Grotesk"/>
                <a:ea typeface="Space Grotesk"/>
                <a:cs typeface="Space Grotesk"/>
              </a:defRPr>
            </a:pPr>
            <a:r>
              <a:rPr sz="4800" b="1">
                <a:solidFill>
                  <a:srgbClr val="111827"/>
                </a:solidFill>
                <a:latin typeface="+mn-ea"/>
                <a:cs typeface="Space Grotesk"/>
              </a:rPr>
              <a:t>02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F58D04B-C449-4A06-87C9-92568C32E6EA}"/>
              </a:ext>
            </a:extLst>
          </p:cNvPr>
          <p:cNvSpPr>
            <a:spLocks noGrp="1"/>
          </p:cNvSpPr>
          <p:nvPr/>
        </p:nvSpPr>
        <p:spPr>
          <a:xfrm>
            <a:off x="3028950" y="3086100"/>
            <a:ext cx="179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9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111827"/>
                </a:solidFill>
                <a:latin typeface="+mn-ea"/>
                <a:cs typeface="Inter"/>
              </a:rPr>
              <a:t>Method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C0280FD-D868-48BB-B9AA-376256C15600}"/>
              </a:ext>
            </a:extLst>
          </p:cNvPr>
          <p:cNvSpPr>
            <a:spLocks noGrp="1"/>
          </p:cNvSpPr>
          <p:nvPr/>
        </p:nvSpPr>
        <p:spPr>
          <a:xfrm>
            <a:off x="3009900" y="3619500"/>
            <a:ext cx="1828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0">
                <a:solidFill>
                  <a:srgbClr val="5F66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5F6673"/>
                </a:solidFill>
                <a:latin typeface="+mn-ea"/>
                <a:cs typeface="Inter"/>
              </a:rPr>
              <a:t>Approach and</a:t>
            </a:r>
          </a:p>
          <a:p>
            <a:pPr algn="ctr">
              <a:defRPr sz="1575" b="0">
                <a:solidFill>
                  <a:srgbClr val="5F66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5F6673"/>
                </a:solidFill>
                <a:latin typeface="+mn-ea"/>
                <a:cs typeface="Inter"/>
              </a:rPr>
              <a:t>Methods</a:t>
            </a:r>
          </a:p>
        </p:txBody>
      </p:sp>
      <p:sp>
        <p:nvSpPr>
          <p:cNvPr id="16" name="vertical-divider">
            <a:extLst>
              <a:ext uri="{FF2B5EF4-FFF2-40B4-BE49-F238E27FC236}">
                <a16:creationId xmlns:a16="http://schemas.microsoft.com/office/drawing/2014/main" id="{9E41218E-649C-4DF7-82CD-08EB6E8BAB70}"/>
              </a:ext>
            </a:extLst>
          </p:cNvPr>
          <p:cNvSpPr>
            <a:spLocks noGrp="1"/>
          </p:cNvSpPr>
          <p:nvPr/>
        </p:nvSpPr>
        <p:spPr>
          <a:xfrm>
            <a:off x="5010150" y="2457450"/>
            <a:ext cx="11430" cy="1428750"/>
          </a:xfrm>
          <a:prstGeom prst="rect">
            <a:avLst/>
          </a:prstGeom>
          <a:solidFill>
            <a:srgbClr val="D4DAE3">
              <a:alpha val="75000"/>
            </a:srgbClr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7B91721-0707-446A-BEA2-6590D5F286C5}"/>
              </a:ext>
            </a:extLst>
          </p:cNvPr>
          <p:cNvSpPr>
            <a:spLocks noGrp="1"/>
          </p:cNvSpPr>
          <p:nvPr/>
        </p:nvSpPr>
        <p:spPr>
          <a:xfrm>
            <a:off x="5505450" y="2247900"/>
            <a:ext cx="11811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4800" b="1">
                <a:solidFill>
                  <a:srgbClr val="111827"/>
                </a:solidFill>
                <a:latin typeface="Space Grotesk"/>
                <a:ea typeface="Space Grotesk"/>
                <a:cs typeface="Space Grotesk"/>
              </a:defRPr>
            </a:pPr>
            <a:r>
              <a:rPr sz="4800" b="1">
                <a:solidFill>
                  <a:srgbClr val="111827"/>
                </a:solidFill>
                <a:latin typeface="+mn-ea"/>
                <a:cs typeface="Space Grotesk"/>
              </a:rPr>
              <a:t>03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9C2A1FF-D1C8-4CD9-B701-A3DC6FAF3F67}"/>
              </a:ext>
            </a:extLst>
          </p:cNvPr>
          <p:cNvSpPr>
            <a:spLocks noGrp="1"/>
          </p:cNvSpPr>
          <p:nvPr/>
        </p:nvSpPr>
        <p:spPr>
          <a:xfrm>
            <a:off x="5200650" y="3086100"/>
            <a:ext cx="179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9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111827"/>
                </a:solidFill>
                <a:latin typeface="+mn-ea"/>
                <a:cs typeface="Inter"/>
              </a:rPr>
              <a:t>Experiments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C4ED0C3-5F93-455E-AF47-752C906CD0F2}"/>
              </a:ext>
            </a:extLst>
          </p:cNvPr>
          <p:cNvSpPr>
            <a:spLocks noGrp="1"/>
          </p:cNvSpPr>
          <p:nvPr/>
        </p:nvSpPr>
        <p:spPr>
          <a:xfrm>
            <a:off x="5181600" y="3619500"/>
            <a:ext cx="1828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0">
                <a:solidFill>
                  <a:srgbClr val="5F66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5F6673"/>
                </a:solidFill>
                <a:latin typeface="+mn-ea"/>
                <a:cs typeface="Inter"/>
              </a:rPr>
              <a:t>Results and</a:t>
            </a:r>
          </a:p>
          <a:p>
            <a:pPr algn="ctr">
              <a:defRPr sz="1575" b="0">
                <a:solidFill>
                  <a:srgbClr val="5F66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5F6673"/>
                </a:solidFill>
                <a:latin typeface="+mn-ea"/>
                <a:cs typeface="Inter"/>
              </a:rPr>
              <a:t>Analysis</a:t>
            </a:r>
          </a:p>
        </p:txBody>
      </p:sp>
      <p:sp>
        <p:nvSpPr>
          <p:cNvPr id="20" name="vertical-divider">
            <a:extLst>
              <a:ext uri="{FF2B5EF4-FFF2-40B4-BE49-F238E27FC236}">
                <a16:creationId xmlns:a16="http://schemas.microsoft.com/office/drawing/2014/main" id="{F4B076B9-6B36-40B1-BBB6-563CACA8531C}"/>
              </a:ext>
            </a:extLst>
          </p:cNvPr>
          <p:cNvSpPr>
            <a:spLocks noGrp="1"/>
          </p:cNvSpPr>
          <p:nvPr/>
        </p:nvSpPr>
        <p:spPr>
          <a:xfrm>
            <a:off x="7181850" y="2457450"/>
            <a:ext cx="11430" cy="1428750"/>
          </a:xfrm>
          <a:prstGeom prst="rect">
            <a:avLst/>
          </a:prstGeom>
          <a:solidFill>
            <a:srgbClr val="D4DAE3">
              <a:alpha val="75000"/>
            </a:srgbClr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807FE06-D80E-4F40-BB3E-7D7246C014A9}"/>
              </a:ext>
            </a:extLst>
          </p:cNvPr>
          <p:cNvSpPr>
            <a:spLocks noGrp="1"/>
          </p:cNvSpPr>
          <p:nvPr/>
        </p:nvSpPr>
        <p:spPr>
          <a:xfrm>
            <a:off x="7677150" y="2247900"/>
            <a:ext cx="11811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4800" b="1">
                <a:solidFill>
                  <a:srgbClr val="111827"/>
                </a:solidFill>
                <a:latin typeface="Space Grotesk"/>
                <a:ea typeface="Space Grotesk"/>
                <a:cs typeface="Space Grotesk"/>
              </a:defRPr>
            </a:pPr>
            <a:r>
              <a:rPr sz="4800" b="1">
                <a:solidFill>
                  <a:srgbClr val="111827"/>
                </a:solidFill>
                <a:latin typeface="+mn-ea"/>
                <a:cs typeface="Space Grotesk"/>
              </a:rPr>
              <a:t>04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DD9847D-CA3F-48AB-8A2F-8215C9CDD6D0}"/>
              </a:ext>
            </a:extLst>
          </p:cNvPr>
          <p:cNvSpPr>
            <a:spLocks noGrp="1"/>
          </p:cNvSpPr>
          <p:nvPr/>
        </p:nvSpPr>
        <p:spPr>
          <a:xfrm>
            <a:off x="7372350" y="3086100"/>
            <a:ext cx="179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9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111827"/>
                </a:solidFill>
                <a:latin typeface="+mn-ea"/>
                <a:cs typeface="Inter"/>
              </a:rPr>
              <a:t>Results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AA959E4-042B-4A54-8467-1EA5C4AD1E28}"/>
              </a:ext>
            </a:extLst>
          </p:cNvPr>
          <p:cNvSpPr>
            <a:spLocks noGrp="1"/>
          </p:cNvSpPr>
          <p:nvPr/>
        </p:nvSpPr>
        <p:spPr>
          <a:xfrm>
            <a:off x="7353300" y="3619500"/>
            <a:ext cx="1828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0">
                <a:solidFill>
                  <a:srgbClr val="5F66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5F6673"/>
                </a:solidFill>
                <a:latin typeface="+mn-ea"/>
                <a:cs typeface="Inter"/>
              </a:rPr>
              <a:t>Key Findings and</a:t>
            </a:r>
          </a:p>
          <a:p>
            <a:pPr algn="ctr">
              <a:defRPr sz="1575" b="0">
                <a:solidFill>
                  <a:srgbClr val="5F66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5F6673"/>
                </a:solidFill>
                <a:latin typeface="+mn-ea"/>
                <a:cs typeface="Inter"/>
              </a:rPr>
              <a:t>Discussion</a:t>
            </a:r>
          </a:p>
        </p:txBody>
      </p:sp>
      <p:sp>
        <p:nvSpPr>
          <p:cNvPr id="24" name="vertical-divider">
            <a:extLst>
              <a:ext uri="{FF2B5EF4-FFF2-40B4-BE49-F238E27FC236}">
                <a16:creationId xmlns:a16="http://schemas.microsoft.com/office/drawing/2014/main" id="{A5160E26-90DD-412F-9B85-128F9F9776BB}"/>
              </a:ext>
            </a:extLst>
          </p:cNvPr>
          <p:cNvSpPr>
            <a:spLocks noGrp="1"/>
          </p:cNvSpPr>
          <p:nvPr/>
        </p:nvSpPr>
        <p:spPr>
          <a:xfrm>
            <a:off x="9353550" y="2457450"/>
            <a:ext cx="11430" cy="1428750"/>
          </a:xfrm>
          <a:prstGeom prst="rect">
            <a:avLst/>
          </a:prstGeom>
          <a:solidFill>
            <a:srgbClr val="D4DAE3">
              <a:alpha val="75000"/>
            </a:srgbClr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07DECF6-BDF2-420D-8435-8CB396284093}"/>
              </a:ext>
            </a:extLst>
          </p:cNvPr>
          <p:cNvSpPr>
            <a:spLocks noGrp="1"/>
          </p:cNvSpPr>
          <p:nvPr/>
        </p:nvSpPr>
        <p:spPr>
          <a:xfrm>
            <a:off x="9848850" y="2247900"/>
            <a:ext cx="11811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4800" b="1">
                <a:solidFill>
                  <a:srgbClr val="111827"/>
                </a:solidFill>
                <a:latin typeface="Space Grotesk"/>
                <a:ea typeface="Space Grotesk"/>
                <a:cs typeface="Space Grotesk"/>
              </a:defRPr>
            </a:pPr>
            <a:r>
              <a:rPr sz="4800" b="1">
                <a:solidFill>
                  <a:srgbClr val="111827"/>
                </a:solidFill>
                <a:latin typeface="+mn-ea"/>
                <a:cs typeface="Space Grotesk"/>
              </a:rPr>
              <a:t>05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EE18F74-6157-406C-874A-6B33D78D3067}"/>
              </a:ext>
            </a:extLst>
          </p:cNvPr>
          <p:cNvSpPr>
            <a:spLocks noGrp="1"/>
          </p:cNvSpPr>
          <p:nvPr/>
        </p:nvSpPr>
        <p:spPr>
          <a:xfrm>
            <a:off x="9544050" y="3086100"/>
            <a:ext cx="179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9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111827"/>
                </a:solidFill>
                <a:latin typeface="+mn-ea"/>
                <a:cs typeface="Inter"/>
              </a:rPr>
              <a:t>Conclusion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508DDEC-1164-46E7-8284-FCD5BC545662}"/>
              </a:ext>
            </a:extLst>
          </p:cNvPr>
          <p:cNvSpPr>
            <a:spLocks noGrp="1"/>
          </p:cNvSpPr>
          <p:nvPr/>
        </p:nvSpPr>
        <p:spPr>
          <a:xfrm>
            <a:off x="9525000" y="3619500"/>
            <a:ext cx="1828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0">
                <a:solidFill>
                  <a:srgbClr val="5F66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5F6673"/>
                </a:solidFill>
                <a:latin typeface="+mn-ea"/>
                <a:cs typeface="Inter"/>
              </a:rPr>
              <a:t>Summary and</a:t>
            </a:r>
          </a:p>
          <a:p>
            <a:pPr algn="ctr">
              <a:defRPr sz="1575" b="0">
                <a:solidFill>
                  <a:srgbClr val="5F66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5F6673"/>
                </a:solidFill>
                <a:latin typeface="+mn-ea"/>
                <a:cs typeface="Inter"/>
              </a:rPr>
              <a:t>Future Work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2B1C899-E12C-439D-8EE6-E5A016D8FC1C}"/>
              </a:ext>
            </a:extLst>
          </p:cNvPr>
          <p:cNvSpPr>
            <a:spLocks noGrp="1"/>
          </p:cNvSpPr>
          <p:nvPr/>
        </p:nvSpPr>
        <p:spPr>
          <a:xfrm>
            <a:off x="381000" y="63817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111827"/>
                </a:solidFill>
                <a:latin typeface="+mn-ea"/>
                <a:cs typeface="Inter"/>
              </a:rPr>
              <a:t>02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A8D7916-1A50-4381-A2FF-3B4ADDBAFF90}"/>
              </a:ext>
            </a:extLst>
          </p:cNvPr>
          <p:cNvSpPr>
            <a:spLocks noGrp="1"/>
          </p:cNvSpPr>
          <p:nvPr/>
        </p:nvSpPr>
        <p:spPr>
          <a:xfrm>
            <a:off x="10477500" y="638175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125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111827"/>
                </a:solidFill>
                <a:latin typeface="+mn-ea"/>
                <a:cs typeface="Inter"/>
              </a:rPr>
              <a:t>LUMIA LAB</a:t>
            </a:r>
          </a:p>
        </p:txBody>
      </p:sp>
    </p:spTree>
    <p:extLst>
      <p:ext uri="{BB962C8B-B14F-4D97-AF65-F5344CB8AC3E}">
        <p14:creationId xmlns:p14="http://schemas.microsoft.com/office/powerpoint/2010/main" val="1890449425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FC3D25A1-81DF-47D7-959F-7DCF645EAB7A}"/>
              </a:ext>
            </a:extLst>
          </p:cNvPr>
          <p:cNvSpPr>
            <a:spLocks noGrp="1"/>
          </p:cNvSpPr>
          <p:nvPr/>
        </p:nvSpPr>
        <p:spPr>
          <a:xfrm>
            <a:off x="381000" y="24765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11827"/>
                </a:solidFill>
                <a:latin typeface="+mn-ea"/>
                <a:cs typeface="Inter"/>
              </a:rPr>
              <a:t>03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F78AAA4-FD6D-4673-AAC4-062FAA3DCE5C}"/>
              </a:ext>
            </a:extLst>
          </p:cNvPr>
          <p:cNvSpPr>
            <a:spLocks noGrp="1"/>
          </p:cNvSpPr>
          <p:nvPr/>
        </p:nvSpPr>
        <p:spPr>
          <a:xfrm>
            <a:off x="990600" y="24765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111827"/>
                </a:solidFill>
                <a:latin typeface="+mn-ea"/>
                <a:cs typeface="Inter"/>
              </a:rPr>
              <a:t>SECTION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EE5522C-928C-4BDF-AE15-F37DEC86453E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28003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750" b="1">
                <a:solidFill>
                  <a:srgbClr val="111827"/>
                </a:solidFill>
                <a:latin typeface="Space Grotesk"/>
                <a:ea typeface="Space Grotesk"/>
                <a:cs typeface="Space Grotesk"/>
              </a:defRPr>
            </a:pPr>
            <a:r>
              <a:rPr sz="12750" b="1" dirty="0">
                <a:solidFill>
                  <a:srgbClr val="111827"/>
                </a:solidFill>
                <a:latin typeface="+mn-ea"/>
                <a:cs typeface="Space Grotesk"/>
              </a:rPr>
              <a:t>01</a:t>
            </a:r>
          </a:p>
        </p:txBody>
      </p:sp>
      <p:sp>
        <p:nvSpPr>
          <p:cNvPr id="4" name="vertical-divider">
            <a:extLst>
              <a:ext uri="{FF2B5EF4-FFF2-40B4-BE49-F238E27FC236}">
                <a16:creationId xmlns:a16="http://schemas.microsoft.com/office/drawing/2014/main" id="{F8FF32FD-6B03-4AAE-A1C5-9649C2C09D56}"/>
              </a:ext>
            </a:extLst>
          </p:cNvPr>
          <p:cNvSpPr>
            <a:spLocks noGrp="1"/>
          </p:cNvSpPr>
          <p:nvPr/>
        </p:nvSpPr>
        <p:spPr>
          <a:xfrm>
            <a:off x="3810000" y="2095500"/>
            <a:ext cx="11430" cy="1409700"/>
          </a:xfrm>
          <a:prstGeom prst="rect">
            <a:avLst/>
          </a:prstGeom>
          <a:solidFill>
            <a:srgbClr val="D4DAE3">
              <a:alpha val="100000"/>
            </a:srgbClr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EF9507-0396-40FD-B0CB-357909ACF13C}"/>
              </a:ext>
            </a:extLst>
          </p:cNvPr>
          <p:cNvSpPr>
            <a:spLocks noGrp="1"/>
          </p:cNvSpPr>
          <p:nvPr/>
        </p:nvSpPr>
        <p:spPr>
          <a:xfrm>
            <a:off x="4381500" y="2266950"/>
            <a:ext cx="5334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4650" b="1">
                <a:solidFill>
                  <a:srgbClr val="111827"/>
                </a:solidFill>
                <a:latin typeface="Space Grotesk"/>
                <a:ea typeface="Space Grotesk"/>
                <a:cs typeface="Space Grotesk"/>
              </a:defRPr>
            </a:pPr>
            <a:r>
              <a:rPr sz="4650" b="1" dirty="0">
                <a:solidFill>
                  <a:srgbClr val="111827"/>
                </a:solidFill>
                <a:latin typeface="+mn-ea"/>
                <a:cs typeface="Space Grotesk"/>
              </a:rPr>
              <a:t>Introduction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EC8187E-34F9-46C7-8C4F-6177B70C9799}"/>
              </a:ext>
            </a:extLst>
          </p:cNvPr>
          <p:cNvSpPr>
            <a:spLocks noGrp="1"/>
          </p:cNvSpPr>
          <p:nvPr/>
        </p:nvSpPr>
        <p:spPr>
          <a:xfrm>
            <a:off x="4381500" y="3143250"/>
            <a:ext cx="523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00" b="0">
                <a:solidFill>
                  <a:srgbClr val="5F6673"/>
                </a:solidFill>
                <a:latin typeface="Inter"/>
                <a:ea typeface="Inter"/>
                <a:cs typeface="Inter"/>
              </a:defRPr>
            </a:pPr>
            <a:r>
              <a:rPr sz="2400" b="0">
                <a:solidFill>
                  <a:srgbClr val="5F6673"/>
                </a:solidFill>
                <a:latin typeface="+mn-ea"/>
                <a:cs typeface="Inter"/>
              </a:rPr>
              <a:t>Background and Motivation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C68963B-7121-477B-BCCA-718427645FDD}"/>
              </a:ext>
            </a:extLst>
          </p:cNvPr>
          <p:cNvSpPr>
            <a:spLocks noGrp="1"/>
          </p:cNvSpPr>
          <p:nvPr/>
        </p:nvSpPr>
        <p:spPr>
          <a:xfrm>
            <a:off x="381000" y="63817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111827"/>
                </a:solidFill>
                <a:latin typeface="+mn-ea"/>
                <a:cs typeface="Inter"/>
              </a:rPr>
              <a:t>03</a:t>
            </a:r>
          </a:p>
        </p:txBody>
      </p:sp>
      <p:sp>
        <p:nvSpPr>
          <p:cNvPr id="8" name="footer-five-color-line-1">
            <a:extLst>
              <a:ext uri="{FF2B5EF4-FFF2-40B4-BE49-F238E27FC236}">
                <a16:creationId xmlns:a16="http://schemas.microsoft.com/office/drawing/2014/main" id="{3D0BD24E-4BB5-4471-8542-E5CAC16C93CF}"/>
              </a:ext>
            </a:extLst>
          </p:cNvPr>
          <p:cNvSpPr>
            <a:spLocks noGrp="1"/>
          </p:cNvSpPr>
          <p:nvPr/>
        </p:nvSpPr>
        <p:spPr>
          <a:xfrm>
            <a:off x="1524000" y="6057900"/>
            <a:ext cx="1828800" cy="19050"/>
          </a:xfrm>
          <a:prstGeom prst="rect">
            <a:avLst/>
          </a:prstGeom>
          <a:solidFill>
            <a:srgbClr val="FBBC05"/>
          </a:solidFill>
          <a:ln w="0">
            <a:noFill/>
            <a:prstDash val="solid"/>
          </a:ln>
        </p:spPr>
      </p:sp>
      <p:sp>
        <p:nvSpPr>
          <p:cNvPr id="9" name="footer-five-color-line-2">
            <a:extLst>
              <a:ext uri="{FF2B5EF4-FFF2-40B4-BE49-F238E27FC236}">
                <a16:creationId xmlns:a16="http://schemas.microsoft.com/office/drawing/2014/main" id="{5A69BDC1-5217-4917-A9C6-3FE2CF5D726F}"/>
              </a:ext>
            </a:extLst>
          </p:cNvPr>
          <p:cNvSpPr>
            <a:spLocks noGrp="1"/>
          </p:cNvSpPr>
          <p:nvPr/>
        </p:nvSpPr>
        <p:spPr>
          <a:xfrm>
            <a:off x="3352800" y="6057900"/>
            <a:ext cx="1828800" cy="19050"/>
          </a:xfrm>
          <a:prstGeom prst="rect">
            <a:avLst/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10" name="footer-five-color-line-3">
            <a:extLst>
              <a:ext uri="{FF2B5EF4-FFF2-40B4-BE49-F238E27FC236}">
                <a16:creationId xmlns:a16="http://schemas.microsoft.com/office/drawing/2014/main" id="{D0E200D3-CCBF-4542-BFAB-B1BCB11482E4}"/>
              </a:ext>
            </a:extLst>
          </p:cNvPr>
          <p:cNvSpPr>
            <a:spLocks noGrp="1"/>
          </p:cNvSpPr>
          <p:nvPr/>
        </p:nvSpPr>
        <p:spPr>
          <a:xfrm>
            <a:off x="5181600" y="6057900"/>
            <a:ext cx="1828800" cy="19050"/>
          </a:xfrm>
          <a:prstGeom prst="rect">
            <a:avLst/>
          </a:prstGeom>
          <a:solidFill>
            <a:srgbClr val="EA4335"/>
          </a:solidFill>
          <a:ln w="0">
            <a:noFill/>
            <a:prstDash val="solid"/>
          </a:ln>
        </p:spPr>
      </p:sp>
      <p:sp>
        <p:nvSpPr>
          <p:cNvPr id="11" name="footer-five-color-line-4">
            <a:extLst>
              <a:ext uri="{FF2B5EF4-FFF2-40B4-BE49-F238E27FC236}">
                <a16:creationId xmlns:a16="http://schemas.microsoft.com/office/drawing/2014/main" id="{59613D5D-956C-4EF8-835A-CAD2D235D1AE}"/>
              </a:ext>
            </a:extLst>
          </p:cNvPr>
          <p:cNvSpPr>
            <a:spLocks noGrp="1"/>
          </p:cNvSpPr>
          <p:nvPr/>
        </p:nvSpPr>
        <p:spPr>
          <a:xfrm>
            <a:off x="7010400" y="6057900"/>
            <a:ext cx="1828800" cy="19050"/>
          </a:xfrm>
          <a:prstGeom prst="rect">
            <a:avLst/>
          </a:prstGeom>
          <a:solidFill>
            <a:srgbClr val="583B95"/>
          </a:solidFill>
          <a:ln w="0">
            <a:noFill/>
            <a:prstDash val="solid"/>
          </a:ln>
        </p:spPr>
      </p:sp>
      <p:sp>
        <p:nvSpPr>
          <p:cNvPr id="12" name="footer-five-color-line-5">
            <a:extLst>
              <a:ext uri="{FF2B5EF4-FFF2-40B4-BE49-F238E27FC236}">
                <a16:creationId xmlns:a16="http://schemas.microsoft.com/office/drawing/2014/main" id="{4AB0E17E-A2DF-43AA-B37C-F93DC553D7C0}"/>
              </a:ext>
            </a:extLst>
          </p:cNvPr>
          <p:cNvSpPr>
            <a:spLocks noGrp="1"/>
          </p:cNvSpPr>
          <p:nvPr/>
        </p:nvSpPr>
        <p:spPr>
          <a:xfrm>
            <a:off x="8839200" y="6057900"/>
            <a:ext cx="1828800" cy="19050"/>
          </a:xfrm>
          <a:prstGeom prst="rect">
            <a:avLst/>
          </a:prstGeom>
          <a:solidFill>
            <a:srgbClr val="34A853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BC528FA-0543-48CC-9184-563BA8A34015}"/>
              </a:ext>
            </a:extLst>
          </p:cNvPr>
          <p:cNvSpPr>
            <a:spLocks noGrp="1"/>
          </p:cNvSpPr>
          <p:nvPr/>
        </p:nvSpPr>
        <p:spPr>
          <a:xfrm>
            <a:off x="10477500" y="638175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125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111827"/>
                </a:solidFill>
                <a:latin typeface="+mn-ea"/>
                <a:cs typeface="Inter"/>
              </a:rPr>
              <a:t>LUMIA LAB</a:t>
            </a:r>
          </a:p>
        </p:txBody>
      </p:sp>
    </p:spTree>
    <p:extLst>
      <p:ext uri="{BB962C8B-B14F-4D97-AF65-F5344CB8AC3E}">
        <p14:creationId xmlns:p14="http://schemas.microsoft.com/office/powerpoint/2010/main" val="411167326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6643EB93-0DE2-4A6E-A2ED-97BFB0CA4E1C}"/>
              </a:ext>
            </a:extLst>
          </p:cNvPr>
          <p:cNvSpPr>
            <a:spLocks noGrp="1"/>
          </p:cNvSpPr>
          <p:nvPr/>
        </p:nvSpPr>
        <p:spPr>
          <a:xfrm>
            <a:off x="381000" y="24765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11827"/>
                </a:solidFill>
                <a:latin typeface="+mn-ea"/>
                <a:cs typeface="Inter"/>
              </a:rPr>
              <a:t>04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F161288-52DD-4DF6-9BD1-AB9CCC25BE82}"/>
              </a:ext>
            </a:extLst>
          </p:cNvPr>
          <p:cNvSpPr>
            <a:spLocks noGrp="1"/>
          </p:cNvSpPr>
          <p:nvPr/>
        </p:nvSpPr>
        <p:spPr>
          <a:xfrm>
            <a:off x="990600" y="24765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111827"/>
                </a:solidFill>
                <a:latin typeface="+mn-ea"/>
                <a:cs typeface="Inter"/>
              </a:rPr>
              <a:t>CONTENT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A2D5D19-324E-4086-90BC-0EFC071A4091}"/>
              </a:ext>
            </a:extLst>
          </p:cNvPr>
          <p:cNvSpPr>
            <a:spLocks noGrp="1"/>
          </p:cNvSpPr>
          <p:nvPr/>
        </p:nvSpPr>
        <p:spPr>
          <a:xfrm>
            <a:off x="762000" y="819150"/>
            <a:ext cx="5810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4800" b="1">
                <a:solidFill>
                  <a:srgbClr val="111827"/>
                </a:solidFill>
                <a:latin typeface="Space Grotesk"/>
                <a:ea typeface="Space Grotesk"/>
                <a:cs typeface="Space Grotesk"/>
              </a:defRPr>
            </a:pPr>
            <a:r>
              <a:rPr sz="4800" b="1" dirty="0">
                <a:solidFill>
                  <a:srgbClr val="111827"/>
                </a:solidFill>
                <a:latin typeface="+mn-ea"/>
                <a:cs typeface="Space Grotesk"/>
              </a:rPr>
              <a:t>Slide Title Here</a:t>
            </a:r>
          </a:p>
        </p:txBody>
      </p:sp>
      <p:sp>
        <p:nvSpPr>
          <p:cNvPr id="4" name="title-five-color-line-1">
            <a:extLst>
              <a:ext uri="{FF2B5EF4-FFF2-40B4-BE49-F238E27FC236}">
                <a16:creationId xmlns:a16="http://schemas.microsoft.com/office/drawing/2014/main" id="{6E1085DD-87D6-46F7-8ADC-0B113898007E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285750" cy="19050"/>
          </a:xfrm>
          <a:prstGeom prst="rect">
            <a:avLst/>
          </a:prstGeom>
          <a:solidFill>
            <a:srgbClr val="FBBC05"/>
          </a:solidFill>
          <a:ln w="0">
            <a:noFill/>
            <a:prstDash val="solid"/>
          </a:ln>
        </p:spPr>
      </p:sp>
      <p:sp>
        <p:nvSpPr>
          <p:cNvPr id="5" name="title-five-color-line-2">
            <a:extLst>
              <a:ext uri="{FF2B5EF4-FFF2-40B4-BE49-F238E27FC236}">
                <a16:creationId xmlns:a16="http://schemas.microsoft.com/office/drawing/2014/main" id="{6A892DF2-C3CB-41AD-A135-855D543B1D41}"/>
              </a:ext>
            </a:extLst>
          </p:cNvPr>
          <p:cNvSpPr>
            <a:spLocks noGrp="1"/>
          </p:cNvSpPr>
          <p:nvPr/>
        </p:nvSpPr>
        <p:spPr>
          <a:xfrm>
            <a:off x="1143000" y="1619250"/>
            <a:ext cx="285750" cy="19050"/>
          </a:xfrm>
          <a:prstGeom prst="rect">
            <a:avLst/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6" name="title-five-color-line-3">
            <a:extLst>
              <a:ext uri="{FF2B5EF4-FFF2-40B4-BE49-F238E27FC236}">
                <a16:creationId xmlns:a16="http://schemas.microsoft.com/office/drawing/2014/main" id="{1DCF54E0-5CF7-4E10-8D84-6E4C7CF0BA80}"/>
              </a:ext>
            </a:extLst>
          </p:cNvPr>
          <p:cNvSpPr>
            <a:spLocks noGrp="1"/>
          </p:cNvSpPr>
          <p:nvPr/>
        </p:nvSpPr>
        <p:spPr>
          <a:xfrm>
            <a:off x="1524000" y="1619250"/>
            <a:ext cx="285750" cy="19050"/>
          </a:xfrm>
          <a:prstGeom prst="rect">
            <a:avLst/>
          </a:prstGeom>
          <a:solidFill>
            <a:srgbClr val="EA4335"/>
          </a:solidFill>
          <a:ln w="0">
            <a:noFill/>
            <a:prstDash val="solid"/>
          </a:ln>
        </p:spPr>
      </p:sp>
      <p:sp>
        <p:nvSpPr>
          <p:cNvPr id="7" name="title-five-color-line-4">
            <a:extLst>
              <a:ext uri="{FF2B5EF4-FFF2-40B4-BE49-F238E27FC236}">
                <a16:creationId xmlns:a16="http://schemas.microsoft.com/office/drawing/2014/main" id="{A8933771-AFF8-4D3E-8513-82A62281AC3C}"/>
              </a:ext>
            </a:extLst>
          </p:cNvPr>
          <p:cNvSpPr>
            <a:spLocks noGrp="1"/>
          </p:cNvSpPr>
          <p:nvPr/>
        </p:nvSpPr>
        <p:spPr>
          <a:xfrm>
            <a:off x="1905000" y="1619250"/>
            <a:ext cx="285750" cy="19050"/>
          </a:xfrm>
          <a:prstGeom prst="rect">
            <a:avLst/>
          </a:prstGeom>
          <a:solidFill>
            <a:srgbClr val="583B95"/>
          </a:solidFill>
          <a:ln w="0">
            <a:noFill/>
            <a:prstDash val="solid"/>
          </a:ln>
        </p:spPr>
      </p:sp>
      <p:sp>
        <p:nvSpPr>
          <p:cNvPr id="8" name="title-five-color-line-5">
            <a:extLst>
              <a:ext uri="{FF2B5EF4-FFF2-40B4-BE49-F238E27FC236}">
                <a16:creationId xmlns:a16="http://schemas.microsoft.com/office/drawing/2014/main" id="{0A300588-9233-4C7D-B41C-EC60801D509C}"/>
              </a:ext>
            </a:extLst>
          </p:cNvPr>
          <p:cNvSpPr>
            <a:spLocks noGrp="1"/>
          </p:cNvSpPr>
          <p:nvPr/>
        </p:nvSpPr>
        <p:spPr>
          <a:xfrm>
            <a:off x="2286000" y="1619250"/>
            <a:ext cx="285750" cy="19050"/>
          </a:xfrm>
          <a:prstGeom prst="rect">
            <a:avLst/>
          </a:prstGeom>
          <a:solidFill>
            <a:srgbClr val="34A853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8D1523-EA9E-4401-B836-6192DE3294BC}"/>
              </a:ext>
            </a:extLst>
          </p:cNvPr>
          <p:cNvSpPr>
            <a:spLocks noGrp="1"/>
          </p:cNvSpPr>
          <p:nvPr/>
        </p:nvSpPr>
        <p:spPr>
          <a:xfrm>
            <a:off x="762000" y="2057400"/>
            <a:ext cx="53340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0">
                <a:solidFill>
                  <a:srgbClr val="5F6673"/>
                </a:solidFill>
                <a:latin typeface="Inter"/>
                <a:ea typeface="Inter"/>
                <a:cs typeface="Inter"/>
              </a:defRPr>
            </a:pPr>
            <a:r>
              <a:rPr sz="2400" b="0" dirty="0">
                <a:solidFill>
                  <a:srgbClr val="5F6673"/>
                </a:solidFill>
                <a:latin typeface="+mn-ea"/>
                <a:cs typeface="Inter"/>
              </a:rPr>
              <a:t>Lead with the research claim. Keep evidence close enough that the audience can inspect the method without searching.</a:t>
            </a:r>
          </a:p>
        </p:txBody>
      </p:sp>
      <p:sp>
        <p:nvSpPr>
          <p:cNvPr id="10" name="body-bullet">
            <a:extLst>
              <a:ext uri="{FF2B5EF4-FFF2-40B4-BE49-F238E27FC236}">
                <a16:creationId xmlns:a16="http://schemas.microsoft.com/office/drawing/2014/main" id="{E429A9A4-A3AF-4927-9A9F-D90EFED1454C}"/>
              </a:ext>
            </a:extLst>
          </p:cNvPr>
          <p:cNvSpPr>
            <a:spLocks noGrp="1"/>
          </p:cNvSpPr>
          <p:nvPr/>
        </p:nvSpPr>
        <p:spPr>
          <a:xfrm>
            <a:off x="762000" y="3762375"/>
            <a:ext cx="57150" cy="57150"/>
          </a:xfrm>
          <a:prstGeom prst="ellipse">
            <a:avLst/>
          </a:prstGeom>
          <a:solidFill>
            <a:srgbClr val="111827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895889E-673F-48D2-8FA3-B928526E8E12}"/>
              </a:ext>
            </a:extLst>
          </p:cNvPr>
          <p:cNvSpPr>
            <a:spLocks noGrp="1"/>
          </p:cNvSpPr>
          <p:nvPr/>
        </p:nvSpPr>
        <p:spPr>
          <a:xfrm>
            <a:off x="1028700" y="3638550"/>
            <a:ext cx="5257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5F6673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5F6673"/>
                </a:solidFill>
                <a:latin typeface="+mn-ea"/>
                <a:cs typeface="Inter"/>
              </a:rPr>
              <a:t>Define the question before the mechanism.</a:t>
            </a:r>
          </a:p>
        </p:txBody>
      </p:sp>
      <p:sp>
        <p:nvSpPr>
          <p:cNvPr id="12" name="body-bullet">
            <a:extLst>
              <a:ext uri="{FF2B5EF4-FFF2-40B4-BE49-F238E27FC236}">
                <a16:creationId xmlns:a16="http://schemas.microsoft.com/office/drawing/2014/main" id="{E251677D-D70F-410F-A21F-CA93F20D0BAC}"/>
              </a:ext>
            </a:extLst>
          </p:cNvPr>
          <p:cNvSpPr>
            <a:spLocks noGrp="1"/>
          </p:cNvSpPr>
          <p:nvPr/>
        </p:nvSpPr>
        <p:spPr>
          <a:xfrm>
            <a:off x="762000" y="4238625"/>
            <a:ext cx="57150" cy="57150"/>
          </a:xfrm>
          <a:prstGeom prst="ellipse">
            <a:avLst/>
          </a:prstGeom>
          <a:solidFill>
            <a:srgbClr val="111827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E914196-E72F-4A65-B8AE-61439BE8BF3C}"/>
              </a:ext>
            </a:extLst>
          </p:cNvPr>
          <p:cNvSpPr>
            <a:spLocks noGrp="1"/>
          </p:cNvSpPr>
          <p:nvPr/>
        </p:nvSpPr>
        <p:spPr>
          <a:xfrm>
            <a:off x="1028700" y="4114800"/>
            <a:ext cx="5257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5F6673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5F6673"/>
                </a:solidFill>
                <a:latin typeface="+mn-ea"/>
                <a:cs typeface="Inter"/>
              </a:rPr>
              <a:t>Use exact metrics, ablations, and baselines.</a:t>
            </a:r>
          </a:p>
        </p:txBody>
      </p:sp>
      <p:sp>
        <p:nvSpPr>
          <p:cNvPr id="14" name="body-bullet">
            <a:extLst>
              <a:ext uri="{FF2B5EF4-FFF2-40B4-BE49-F238E27FC236}">
                <a16:creationId xmlns:a16="http://schemas.microsoft.com/office/drawing/2014/main" id="{05A105E9-7B60-45D9-BF39-0E41FB85FE8E}"/>
              </a:ext>
            </a:extLst>
          </p:cNvPr>
          <p:cNvSpPr>
            <a:spLocks noGrp="1"/>
          </p:cNvSpPr>
          <p:nvPr/>
        </p:nvSpPr>
        <p:spPr>
          <a:xfrm>
            <a:off x="762000" y="4714875"/>
            <a:ext cx="57150" cy="57150"/>
          </a:xfrm>
          <a:prstGeom prst="ellipse">
            <a:avLst/>
          </a:prstGeom>
          <a:solidFill>
            <a:srgbClr val="111827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509F02E-B8F2-4DAB-81E9-ECBA9AB73B99}"/>
              </a:ext>
            </a:extLst>
          </p:cNvPr>
          <p:cNvSpPr>
            <a:spLocks noGrp="1"/>
          </p:cNvSpPr>
          <p:nvPr/>
        </p:nvSpPr>
        <p:spPr>
          <a:xfrm>
            <a:off x="1028700" y="4591050"/>
            <a:ext cx="5257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5F6673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5F6673"/>
                </a:solidFill>
                <a:latin typeface="+mn-ea"/>
                <a:cs typeface="Inter"/>
              </a:rPr>
              <a:t>Keep chart labels short and inspectable.</a:t>
            </a:r>
          </a:p>
        </p:txBody>
      </p:sp>
      <p:sp>
        <p:nvSpPr>
          <p:cNvPr id="16" name="body-bullet">
            <a:extLst>
              <a:ext uri="{FF2B5EF4-FFF2-40B4-BE49-F238E27FC236}">
                <a16:creationId xmlns:a16="http://schemas.microsoft.com/office/drawing/2014/main" id="{B363C1C2-6272-4B3E-8152-8F06039F52B3}"/>
              </a:ext>
            </a:extLst>
          </p:cNvPr>
          <p:cNvSpPr>
            <a:spLocks noGrp="1"/>
          </p:cNvSpPr>
          <p:nvPr/>
        </p:nvSpPr>
        <p:spPr>
          <a:xfrm>
            <a:off x="762000" y="5191125"/>
            <a:ext cx="57150" cy="57150"/>
          </a:xfrm>
          <a:prstGeom prst="ellipse">
            <a:avLst/>
          </a:prstGeom>
          <a:solidFill>
            <a:srgbClr val="111827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C95D6C8-4C5A-4632-8FF4-48E907B8394A}"/>
              </a:ext>
            </a:extLst>
          </p:cNvPr>
          <p:cNvSpPr>
            <a:spLocks noGrp="1"/>
          </p:cNvSpPr>
          <p:nvPr/>
        </p:nvSpPr>
        <p:spPr>
          <a:xfrm>
            <a:off x="1028700" y="5067300"/>
            <a:ext cx="5257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5F6673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5F6673"/>
                </a:solidFill>
                <a:latin typeface="+mn-ea"/>
                <a:cs typeface="Inter"/>
              </a:rPr>
              <a:t>Move low-level detail to backup slides.</a:t>
            </a:r>
          </a:p>
        </p:txBody>
      </p:sp>
      <p:sp>
        <p:nvSpPr>
          <p:cNvPr id="18" name="research-chart-card">
            <a:extLst>
              <a:ext uri="{FF2B5EF4-FFF2-40B4-BE49-F238E27FC236}">
                <a16:creationId xmlns:a16="http://schemas.microsoft.com/office/drawing/2014/main" id="{FE56E094-AA0C-49DD-B1D6-4A4AC8CB2D99}"/>
              </a:ext>
            </a:extLst>
          </p:cNvPr>
          <p:cNvSpPr>
            <a:spLocks noGrp="1"/>
          </p:cNvSpPr>
          <p:nvPr/>
        </p:nvSpPr>
        <p:spPr>
          <a:xfrm>
            <a:off x="6858000" y="2057400"/>
            <a:ext cx="45720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8EC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graphicFrame>
        <p:nvGraphicFramePr>
          <p:cNvPr id="40" name="Chart"/>
          <p:cNvGraphicFramePr/>
          <p:nvPr>
            <p:extLst>
              <p:ext uri="{D42A27DB-BD31-4B8C-83A1-F6EECF244321}">
                <p14:modId xmlns:p14="http://schemas.microsoft.com/office/powerpoint/2010/main" val="4137068872"/>
              </p:ext>
            </p:extLst>
          </p:nvPr>
        </p:nvGraphicFramePr>
        <p:xfrm>
          <a:off x="6966857" y="2155371"/>
          <a:ext cx="4354286" cy="31786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46674CAB-92BE-4184-A6CE-4A3491AEB8BE}"/>
              </a:ext>
            </a:extLst>
          </p:cNvPr>
          <p:cNvSpPr>
            <a:spLocks noGrp="1"/>
          </p:cNvSpPr>
          <p:nvPr/>
        </p:nvSpPr>
        <p:spPr>
          <a:xfrm>
            <a:off x="381000" y="63817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111827"/>
                </a:solidFill>
                <a:latin typeface="+mn-ea"/>
                <a:cs typeface="Inter"/>
              </a:rPr>
              <a:t>04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D9156B8-C33E-445D-9302-E3FE71A68A75}"/>
              </a:ext>
            </a:extLst>
          </p:cNvPr>
          <p:cNvSpPr>
            <a:spLocks noGrp="1"/>
          </p:cNvSpPr>
          <p:nvPr/>
        </p:nvSpPr>
        <p:spPr>
          <a:xfrm>
            <a:off x="10477500" y="638175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125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111827"/>
                </a:solidFill>
                <a:latin typeface="+mn-ea"/>
                <a:cs typeface="Inter"/>
              </a:rPr>
              <a:t>LUMIA LAB</a:t>
            </a:r>
          </a:p>
        </p:txBody>
      </p:sp>
    </p:spTree>
    <p:extLst>
      <p:ext uri="{BB962C8B-B14F-4D97-AF65-F5344CB8AC3E}">
        <p14:creationId xmlns:p14="http://schemas.microsoft.com/office/powerpoint/2010/main" val="1434942074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2CB9D741-4011-4965-B852-2003A932E1F5}"/>
              </a:ext>
            </a:extLst>
          </p:cNvPr>
          <p:cNvSpPr>
            <a:spLocks noGrp="1"/>
          </p:cNvSpPr>
          <p:nvPr/>
        </p:nvSpPr>
        <p:spPr>
          <a:xfrm>
            <a:off x="381000" y="24765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11827"/>
                </a:solidFill>
                <a:latin typeface="+mn-ea"/>
                <a:cs typeface="Inter"/>
              </a:rPr>
              <a:t>05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2594359-EB4E-4EAF-9514-DFEE53A1CE3B}"/>
              </a:ext>
            </a:extLst>
          </p:cNvPr>
          <p:cNvSpPr>
            <a:spLocks noGrp="1"/>
          </p:cNvSpPr>
          <p:nvPr/>
        </p:nvSpPr>
        <p:spPr>
          <a:xfrm>
            <a:off x="990600" y="24765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125" b="1" dirty="0">
                <a:solidFill>
                  <a:srgbClr val="111827"/>
                </a:solidFill>
                <a:latin typeface="+mn-ea"/>
                <a:cs typeface="Inter"/>
              </a:rPr>
              <a:t>FULL IMAGE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7DC3F55-53BA-4D9A-9ADE-D822DE9533A7}"/>
              </a:ext>
            </a:extLst>
          </p:cNvPr>
          <p:cNvSpPr>
            <a:spLocks noGrp="1"/>
          </p:cNvSpPr>
          <p:nvPr/>
        </p:nvSpPr>
        <p:spPr>
          <a:xfrm>
            <a:off x="762000" y="819150"/>
            <a:ext cx="685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4800" b="1">
                <a:solidFill>
                  <a:srgbClr val="111827"/>
                </a:solidFill>
                <a:latin typeface="Space Grotesk"/>
                <a:ea typeface="Space Grotesk"/>
                <a:cs typeface="Space Grotesk"/>
              </a:defRPr>
            </a:pPr>
            <a:r>
              <a:rPr sz="4800" b="1" dirty="0">
                <a:solidFill>
                  <a:srgbClr val="111827"/>
                </a:solidFill>
                <a:latin typeface="+mn-ea"/>
                <a:cs typeface="Space Grotesk"/>
              </a:rPr>
              <a:t>Architecture Overview</a:t>
            </a:r>
          </a:p>
        </p:txBody>
      </p:sp>
      <p:sp>
        <p:nvSpPr>
          <p:cNvPr id="4" name="title-five-color-line-1">
            <a:extLst>
              <a:ext uri="{FF2B5EF4-FFF2-40B4-BE49-F238E27FC236}">
                <a16:creationId xmlns:a16="http://schemas.microsoft.com/office/drawing/2014/main" id="{5116121B-7C00-4A43-988E-02FEDAFD1C66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285750" cy="19050"/>
          </a:xfrm>
          <a:prstGeom prst="rect">
            <a:avLst/>
          </a:prstGeom>
          <a:solidFill>
            <a:srgbClr val="FBBC05"/>
          </a:solidFill>
          <a:ln w="0">
            <a:noFill/>
            <a:prstDash val="solid"/>
          </a:ln>
        </p:spPr>
      </p:sp>
      <p:sp>
        <p:nvSpPr>
          <p:cNvPr id="5" name="title-five-color-line-2">
            <a:extLst>
              <a:ext uri="{FF2B5EF4-FFF2-40B4-BE49-F238E27FC236}">
                <a16:creationId xmlns:a16="http://schemas.microsoft.com/office/drawing/2014/main" id="{70D217A7-991E-4326-B250-9285BE71E5AF}"/>
              </a:ext>
            </a:extLst>
          </p:cNvPr>
          <p:cNvSpPr>
            <a:spLocks noGrp="1"/>
          </p:cNvSpPr>
          <p:nvPr/>
        </p:nvSpPr>
        <p:spPr>
          <a:xfrm>
            <a:off x="1143000" y="1619250"/>
            <a:ext cx="285750" cy="19050"/>
          </a:xfrm>
          <a:prstGeom prst="rect">
            <a:avLst/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6" name="title-five-color-line-3">
            <a:extLst>
              <a:ext uri="{FF2B5EF4-FFF2-40B4-BE49-F238E27FC236}">
                <a16:creationId xmlns:a16="http://schemas.microsoft.com/office/drawing/2014/main" id="{6EA185EF-930A-4B17-BF95-360C651266C1}"/>
              </a:ext>
            </a:extLst>
          </p:cNvPr>
          <p:cNvSpPr>
            <a:spLocks noGrp="1"/>
          </p:cNvSpPr>
          <p:nvPr/>
        </p:nvSpPr>
        <p:spPr>
          <a:xfrm>
            <a:off x="1524000" y="1619250"/>
            <a:ext cx="285750" cy="19050"/>
          </a:xfrm>
          <a:prstGeom prst="rect">
            <a:avLst/>
          </a:prstGeom>
          <a:solidFill>
            <a:srgbClr val="EA4335"/>
          </a:solidFill>
          <a:ln w="0">
            <a:noFill/>
            <a:prstDash val="solid"/>
          </a:ln>
        </p:spPr>
      </p:sp>
      <p:sp>
        <p:nvSpPr>
          <p:cNvPr id="7" name="title-five-color-line-4">
            <a:extLst>
              <a:ext uri="{FF2B5EF4-FFF2-40B4-BE49-F238E27FC236}">
                <a16:creationId xmlns:a16="http://schemas.microsoft.com/office/drawing/2014/main" id="{94AABF7D-3DCA-4B48-8D2A-7FFFED4E565D}"/>
              </a:ext>
            </a:extLst>
          </p:cNvPr>
          <p:cNvSpPr>
            <a:spLocks noGrp="1"/>
          </p:cNvSpPr>
          <p:nvPr/>
        </p:nvSpPr>
        <p:spPr>
          <a:xfrm>
            <a:off x="1905000" y="1619250"/>
            <a:ext cx="285750" cy="19050"/>
          </a:xfrm>
          <a:prstGeom prst="rect">
            <a:avLst/>
          </a:prstGeom>
          <a:solidFill>
            <a:srgbClr val="583B95"/>
          </a:solidFill>
          <a:ln w="0">
            <a:noFill/>
            <a:prstDash val="solid"/>
          </a:ln>
        </p:spPr>
      </p:sp>
      <p:sp>
        <p:nvSpPr>
          <p:cNvPr id="8" name="title-five-color-line-5">
            <a:extLst>
              <a:ext uri="{FF2B5EF4-FFF2-40B4-BE49-F238E27FC236}">
                <a16:creationId xmlns:a16="http://schemas.microsoft.com/office/drawing/2014/main" id="{E2C0C14E-B6ED-4465-AAE7-DC126999C654}"/>
              </a:ext>
            </a:extLst>
          </p:cNvPr>
          <p:cNvSpPr>
            <a:spLocks noGrp="1"/>
          </p:cNvSpPr>
          <p:nvPr/>
        </p:nvSpPr>
        <p:spPr>
          <a:xfrm>
            <a:off x="2286000" y="1619250"/>
            <a:ext cx="285750" cy="19050"/>
          </a:xfrm>
          <a:prstGeom prst="rect">
            <a:avLst/>
          </a:prstGeom>
          <a:solidFill>
            <a:srgbClr val="34A853"/>
          </a:solidFill>
          <a:ln w="0">
            <a:noFill/>
            <a:prstDash val="solid"/>
          </a:ln>
        </p:spPr>
      </p:sp>
      <p:sp>
        <p:nvSpPr>
          <p:cNvPr id="9" name="large-figure-placeholder">
            <a:extLst>
              <a:ext uri="{FF2B5EF4-FFF2-40B4-BE49-F238E27FC236}">
                <a16:creationId xmlns:a16="http://schemas.microsoft.com/office/drawing/2014/main" id="{45F6EB44-2EE9-41E3-A6B5-F3EE01C0D8A4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668000" cy="3429000"/>
          </a:xfrm>
          <a:prstGeom prst="rect">
            <a:avLst/>
          </a:prstGeom>
          <a:solidFill>
            <a:srgbClr val="FAFBFC"/>
          </a:solidFill>
          <a:ln w="9525">
            <a:solidFill>
              <a:srgbClr val="E8ECF2"/>
            </a:solidFill>
            <a:prstDash val="solid"/>
          </a:ln>
        </p:spPr>
      </p:sp>
      <p:sp>
        <p:nvSpPr>
          <p:cNvPr id="10" name="architecture-module">
            <a:extLst>
              <a:ext uri="{FF2B5EF4-FFF2-40B4-BE49-F238E27FC236}">
                <a16:creationId xmlns:a16="http://schemas.microsoft.com/office/drawing/2014/main" id="{CD9F6ED7-BFD5-45D9-A769-24FB3FE991ED}"/>
              </a:ext>
            </a:extLst>
          </p:cNvPr>
          <p:cNvSpPr>
            <a:spLocks noGrp="1"/>
          </p:cNvSpPr>
          <p:nvPr/>
        </p:nvSpPr>
        <p:spPr>
          <a:xfrm>
            <a:off x="1066800" y="3371850"/>
            <a:ext cx="1466850" cy="876300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9525">
            <a:solidFill>
              <a:srgbClr val="D7DDE6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10D5106-6688-4624-9A71-0256E2BF5338}"/>
              </a:ext>
            </a:extLst>
          </p:cNvPr>
          <p:cNvSpPr>
            <a:spLocks noGrp="1"/>
          </p:cNvSpPr>
          <p:nvPr/>
        </p:nvSpPr>
        <p:spPr>
          <a:xfrm>
            <a:off x="1181100" y="35052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725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11827"/>
                </a:solidFill>
                <a:latin typeface="+mn-ea"/>
                <a:cs typeface="Inter"/>
              </a:rPr>
              <a:t>Input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40EBFEE-EC56-443A-B4B4-1812AF761A41}"/>
              </a:ext>
            </a:extLst>
          </p:cNvPr>
          <p:cNvSpPr>
            <a:spLocks noGrp="1"/>
          </p:cNvSpPr>
          <p:nvPr/>
        </p:nvSpPr>
        <p:spPr>
          <a:xfrm>
            <a:off x="1200150" y="3886200"/>
            <a:ext cx="1200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0">
                <a:solidFill>
                  <a:srgbClr val="5F6673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5F6673"/>
                </a:solidFill>
                <a:latin typeface="+mn-ea"/>
                <a:cs typeface="Inter"/>
              </a:rPr>
              <a:t>Text / Tokens</a:t>
            </a:r>
          </a:p>
        </p:txBody>
      </p:sp>
      <p:sp>
        <p:nvSpPr>
          <p:cNvPr id="13" name="architecture-module">
            <a:extLst>
              <a:ext uri="{FF2B5EF4-FFF2-40B4-BE49-F238E27FC236}">
                <a16:creationId xmlns:a16="http://schemas.microsoft.com/office/drawing/2014/main" id="{764826C1-65F9-4CFD-883F-54C593613B99}"/>
              </a:ext>
            </a:extLst>
          </p:cNvPr>
          <p:cNvSpPr>
            <a:spLocks noGrp="1"/>
          </p:cNvSpPr>
          <p:nvPr/>
        </p:nvSpPr>
        <p:spPr>
          <a:xfrm>
            <a:off x="3048000" y="3371850"/>
            <a:ext cx="1466850" cy="876300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9525">
            <a:solidFill>
              <a:srgbClr val="D7DDE6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9F0388F-B008-4897-97FD-450CAE15A5C5}"/>
              </a:ext>
            </a:extLst>
          </p:cNvPr>
          <p:cNvSpPr>
            <a:spLocks noGrp="1"/>
          </p:cNvSpPr>
          <p:nvPr/>
        </p:nvSpPr>
        <p:spPr>
          <a:xfrm>
            <a:off x="3162300" y="35052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725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11827"/>
                </a:solidFill>
                <a:latin typeface="+mn-ea"/>
                <a:cs typeface="Inter"/>
              </a:rPr>
              <a:t>Tokenizer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9A55EE-F12D-4B1C-A407-469572292CCE}"/>
              </a:ext>
            </a:extLst>
          </p:cNvPr>
          <p:cNvSpPr>
            <a:spLocks noGrp="1"/>
          </p:cNvSpPr>
          <p:nvPr/>
        </p:nvSpPr>
        <p:spPr>
          <a:xfrm>
            <a:off x="3181350" y="3886200"/>
            <a:ext cx="1200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0">
                <a:solidFill>
                  <a:srgbClr val="5F6673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5F6673"/>
                </a:solidFill>
                <a:latin typeface="+mn-ea"/>
                <a:cs typeface="Inter"/>
              </a:rPr>
              <a:t>Vocabulary</a:t>
            </a:r>
          </a:p>
        </p:txBody>
      </p:sp>
      <p:sp>
        <p:nvSpPr>
          <p:cNvPr id="16" name="architecture-module">
            <a:extLst>
              <a:ext uri="{FF2B5EF4-FFF2-40B4-BE49-F238E27FC236}">
                <a16:creationId xmlns:a16="http://schemas.microsoft.com/office/drawing/2014/main" id="{E61A8FE5-315F-4666-948F-A9050DFDCB6E}"/>
              </a:ext>
            </a:extLst>
          </p:cNvPr>
          <p:cNvSpPr>
            <a:spLocks noGrp="1"/>
          </p:cNvSpPr>
          <p:nvPr/>
        </p:nvSpPr>
        <p:spPr>
          <a:xfrm>
            <a:off x="5105400" y="2933700"/>
            <a:ext cx="1885950" cy="1752600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9525">
            <a:solidFill>
              <a:srgbClr val="D7DDE6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B4021AE-1E23-4CFF-82D9-5230FA9D577F}"/>
              </a:ext>
            </a:extLst>
          </p:cNvPr>
          <p:cNvSpPr>
            <a:spLocks noGrp="1"/>
          </p:cNvSpPr>
          <p:nvPr/>
        </p:nvSpPr>
        <p:spPr>
          <a:xfrm>
            <a:off x="5219700" y="30670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11827"/>
                </a:solidFill>
                <a:latin typeface="+mn-ea"/>
                <a:cs typeface="Inter"/>
              </a:rPr>
              <a:t>Encoder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D17E6EC-0B3D-49DB-AAD7-CB7FC5E6F4CB}"/>
              </a:ext>
            </a:extLst>
          </p:cNvPr>
          <p:cNvSpPr>
            <a:spLocks noGrp="1"/>
          </p:cNvSpPr>
          <p:nvPr/>
        </p:nvSpPr>
        <p:spPr>
          <a:xfrm>
            <a:off x="5238750" y="3448050"/>
            <a:ext cx="161925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0">
                <a:solidFill>
                  <a:srgbClr val="5F66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5F6673"/>
                </a:solidFill>
                <a:latin typeface="+mn-ea"/>
                <a:cs typeface="Inter"/>
              </a:rPr>
              <a:t>Self-Attention</a:t>
            </a:r>
          </a:p>
          <a:p>
            <a:pPr algn="ctr">
              <a:defRPr sz="1575" b="0">
                <a:solidFill>
                  <a:srgbClr val="5F66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5F6673"/>
                </a:solidFill>
                <a:latin typeface="+mn-ea"/>
                <a:cs typeface="Inter"/>
              </a:rPr>
              <a:t>Feed Forward</a:t>
            </a:r>
          </a:p>
        </p:txBody>
      </p:sp>
      <p:sp>
        <p:nvSpPr>
          <p:cNvPr id="19" name="architecture-module">
            <a:extLst>
              <a:ext uri="{FF2B5EF4-FFF2-40B4-BE49-F238E27FC236}">
                <a16:creationId xmlns:a16="http://schemas.microsoft.com/office/drawing/2014/main" id="{03262289-C5D4-4255-B33A-991EE37467EC}"/>
              </a:ext>
            </a:extLst>
          </p:cNvPr>
          <p:cNvSpPr>
            <a:spLocks noGrp="1"/>
          </p:cNvSpPr>
          <p:nvPr/>
        </p:nvSpPr>
        <p:spPr>
          <a:xfrm>
            <a:off x="7543800" y="2647950"/>
            <a:ext cx="2152650" cy="2324100"/>
          </a:xfrm>
          <a:prstGeom prst="roundRect">
            <a:avLst>
              <a:gd name="adj" fmla="val 3097"/>
            </a:avLst>
          </a:prstGeom>
          <a:solidFill>
            <a:srgbClr val="FFFFFF"/>
          </a:solidFill>
          <a:ln w="9525">
            <a:solidFill>
              <a:srgbClr val="D7DDE6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7799B9D-1795-402D-80C2-ED1B6C004D21}"/>
              </a:ext>
            </a:extLst>
          </p:cNvPr>
          <p:cNvSpPr>
            <a:spLocks noGrp="1"/>
          </p:cNvSpPr>
          <p:nvPr/>
        </p:nvSpPr>
        <p:spPr>
          <a:xfrm>
            <a:off x="7658100" y="2781300"/>
            <a:ext cx="1924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11827"/>
                </a:solidFill>
                <a:latin typeface="+mn-ea"/>
                <a:cs typeface="Inter"/>
              </a:rPr>
              <a:t>Decoder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1E19AA1-AC24-4FDD-80FE-35606ADF78FC}"/>
              </a:ext>
            </a:extLst>
          </p:cNvPr>
          <p:cNvSpPr>
            <a:spLocks noGrp="1"/>
          </p:cNvSpPr>
          <p:nvPr/>
        </p:nvSpPr>
        <p:spPr>
          <a:xfrm>
            <a:off x="7677150" y="3162300"/>
            <a:ext cx="188595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0">
                <a:solidFill>
                  <a:srgbClr val="5F66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5F6673"/>
                </a:solidFill>
                <a:latin typeface="+mn-ea"/>
                <a:cs typeface="Inter"/>
              </a:rPr>
              <a:t>Masked Attention</a:t>
            </a:r>
          </a:p>
          <a:p>
            <a:pPr algn="ctr">
              <a:defRPr sz="1575" b="0">
                <a:solidFill>
                  <a:srgbClr val="5F66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5F6673"/>
                </a:solidFill>
                <a:latin typeface="+mn-ea"/>
                <a:cs typeface="Inter"/>
              </a:rPr>
              <a:t>Cross-Attention</a:t>
            </a:r>
          </a:p>
          <a:p>
            <a:pPr algn="ctr">
              <a:defRPr sz="1575" b="0">
                <a:solidFill>
                  <a:srgbClr val="5F667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5F6673"/>
                </a:solidFill>
                <a:latin typeface="+mn-ea"/>
                <a:cs typeface="Inter"/>
              </a:rPr>
              <a:t>Feed Forward</a:t>
            </a:r>
          </a:p>
        </p:txBody>
      </p:sp>
      <p:sp>
        <p:nvSpPr>
          <p:cNvPr id="22" name="architecture-module">
            <a:extLst>
              <a:ext uri="{FF2B5EF4-FFF2-40B4-BE49-F238E27FC236}">
                <a16:creationId xmlns:a16="http://schemas.microsoft.com/office/drawing/2014/main" id="{213177E4-48B3-4CB5-9073-291FE7374B14}"/>
              </a:ext>
            </a:extLst>
          </p:cNvPr>
          <p:cNvSpPr>
            <a:spLocks noGrp="1"/>
          </p:cNvSpPr>
          <p:nvPr/>
        </p:nvSpPr>
        <p:spPr>
          <a:xfrm>
            <a:off x="9829800" y="3371850"/>
            <a:ext cx="1466850" cy="876300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9525">
            <a:solidFill>
              <a:srgbClr val="D7DDE6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CE3C6D5-BDA6-4539-A239-93D13BD87C84}"/>
              </a:ext>
            </a:extLst>
          </p:cNvPr>
          <p:cNvSpPr>
            <a:spLocks noGrp="1"/>
          </p:cNvSpPr>
          <p:nvPr/>
        </p:nvSpPr>
        <p:spPr>
          <a:xfrm>
            <a:off x="9944100" y="35052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725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11827"/>
                </a:solidFill>
                <a:latin typeface="+mn-ea"/>
                <a:cs typeface="Inter"/>
              </a:rPr>
              <a:t>Output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1C32336-A775-408D-9DD4-9183A169B4A6}"/>
              </a:ext>
            </a:extLst>
          </p:cNvPr>
          <p:cNvSpPr>
            <a:spLocks noGrp="1"/>
          </p:cNvSpPr>
          <p:nvPr/>
        </p:nvSpPr>
        <p:spPr>
          <a:xfrm>
            <a:off x="9963150" y="3886200"/>
            <a:ext cx="1200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0">
                <a:solidFill>
                  <a:srgbClr val="5F6673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5F6673"/>
                </a:solidFill>
                <a:latin typeface="+mn-ea"/>
                <a:cs typeface="Inter"/>
              </a:rPr>
              <a:t>Probabilities</a:t>
            </a:r>
          </a:p>
        </p:txBody>
      </p:sp>
      <p:sp>
        <p:nvSpPr>
          <p:cNvPr id="25" name="architecture-flow">
            <a:extLst>
              <a:ext uri="{FF2B5EF4-FFF2-40B4-BE49-F238E27FC236}">
                <a16:creationId xmlns:a16="http://schemas.microsoft.com/office/drawing/2014/main" id="{CA690373-6EF2-471E-BE46-BEAEE8D43E58}"/>
              </a:ext>
            </a:extLst>
          </p:cNvPr>
          <p:cNvSpPr>
            <a:spLocks noGrp="1"/>
          </p:cNvSpPr>
          <p:nvPr/>
        </p:nvSpPr>
        <p:spPr>
          <a:xfrm>
            <a:off x="2533650" y="3810000"/>
            <a:ext cx="514350" cy="0"/>
          </a:xfrm>
          <a:prstGeom prst="line">
            <a:avLst/>
          </a:prstGeom>
          <a:noFill/>
          <a:ln w="10478">
            <a:solidFill>
              <a:srgbClr val="9AA3AF"/>
            </a:solidFill>
            <a:prstDash val="solid"/>
          </a:ln>
        </p:spPr>
      </p:sp>
      <p:sp>
        <p:nvSpPr>
          <p:cNvPr id="26" name="architecture-arrowhead">
            <a:extLst>
              <a:ext uri="{FF2B5EF4-FFF2-40B4-BE49-F238E27FC236}">
                <a16:creationId xmlns:a16="http://schemas.microsoft.com/office/drawing/2014/main" id="{E0F09CA7-42FB-4632-9C35-4C206A98A58B}"/>
              </a:ext>
            </a:extLst>
          </p:cNvPr>
          <p:cNvSpPr>
            <a:spLocks noGrp="1"/>
          </p:cNvSpPr>
          <p:nvPr/>
        </p:nvSpPr>
        <p:spPr>
          <a:xfrm>
            <a:off x="2987928" y="3781071"/>
            <a:ext cx="60072" cy="57858"/>
          </a:xfrm>
          <a:custGeom>
            <a:avLst/>
            <a:gdLst/>
            <a:ahLst/>
            <a:cxnLst/>
            <a:rect l="0" t="0" r="0" b="0"/>
            <a:pathLst>
              <a:path w="60072" h="57858">
                <a:moveTo>
                  <a:pt x="60072" y="28929"/>
                </a:moveTo>
                <a:lnTo>
                  <a:pt x="0" y="57858"/>
                </a:lnTo>
                <a:lnTo>
                  <a:pt x="0" y="0"/>
                </a:lnTo>
                <a:close/>
              </a:path>
            </a:pathLst>
          </a:custGeom>
          <a:solidFill>
            <a:srgbClr val="9AA3AF"/>
          </a:solidFill>
          <a:ln w="0">
            <a:noFill/>
            <a:prstDash val="solid"/>
          </a:ln>
        </p:spPr>
      </p:sp>
      <p:sp>
        <p:nvSpPr>
          <p:cNvPr id="27" name="architecture-flow">
            <a:extLst>
              <a:ext uri="{FF2B5EF4-FFF2-40B4-BE49-F238E27FC236}">
                <a16:creationId xmlns:a16="http://schemas.microsoft.com/office/drawing/2014/main" id="{DA619D90-6046-4FFD-A2D9-272C177ECBF0}"/>
              </a:ext>
            </a:extLst>
          </p:cNvPr>
          <p:cNvSpPr>
            <a:spLocks noGrp="1"/>
          </p:cNvSpPr>
          <p:nvPr/>
        </p:nvSpPr>
        <p:spPr>
          <a:xfrm>
            <a:off x="4514850" y="3810000"/>
            <a:ext cx="590550" cy="0"/>
          </a:xfrm>
          <a:prstGeom prst="line">
            <a:avLst/>
          </a:prstGeom>
          <a:noFill/>
          <a:ln w="10478">
            <a:solidFill>
              <a:srgbClr val="9AA3AF"/>
            </a:solidFill>
            <a:prstDash val="solid"/>
          </a:ln>
        </p:spPr>
      </p:sp>
      <p:sp>
        <p:nvSpPr>
          <p:cNvPr id="28" name="architecture-arrowhead">
            <a:extLst>
              <a:ext uri="{FF2B5EF4-FFF2-40B4-BE49-F238E27FC236}">
                <a16:creationId xmlns:a16="http://schemas.microsoft.com/office/drawing/2014/main" id="{BF202120-FF73-439D-9229-F73114C48D78}"/>
              </a:ext>
            </a:extLst>
          </p:cNvPr>
          <p:cNvSpPr>
            <a:spLocks noGrp="1"/>
          </p:cNvSpPr>
          <p:nvPr/>
        </p:nvSpPr>
        <p:spPr>
          <a:xfrm>
            <a:off x="5045328" y="3781071"/>
            <a:ext cx="60072" cy="57858"/>
          </a:xfrm>
          <a:custGeom>
            <a:avLst/>
            <a:gdLst/>
            <a:ahLst/>
            <a:cxnLst/>
            <a:rect l="0" t="0" r="0" b="0"/>
            <a:pathLst>
              <a:path w="60072" h="57858">
                <a:moveTo>
                  <a:pt x="60072" y="28929"/>
                </a:moveTo>
                <a:lnTo>
                  <a:pt x="0" y="57858"/>
                </a:lnTo>
                <a:lnTo>
                  <a:pt x="0" y="0"/>
                </a:lnTo>
                <a:close/>
              </a:path>
            </a:pathLst>
          </a:custGeom>
          <a:solidFill>
            <a:srgbClr val="9AA3AF"/>
          </a:solidFill>
          <a:ln w="0">
            <a:noFill/>
            <a:prstDash val="solid"/>
          </a:ln>
        </p:spPr>
      </p:sp>
      <p:sp>
        <p:nvSpPr>
          <p:cNvPr id="29" name="architecture-flow">
            <a:extLst>
              <a:ext uri="{FF2B5EF4-FFF2-40B4-BE49-F238E27FC236}">
                <a16:creationId xmlns:a16="http://schemas.microsoft.com/office/drawing/2014/main" id="{AAAF99E6-91D7-4F6D-85EC-21D73524DA94}"/>
              </a:ext>
            </a:extLst>
          </p:cNvPr>
          <p:cNvSpPr>
            <a:spLocks noGrp="1"/>
          </p:cNvSpPr>
          <p:nvPr/>
        </p:nvSpPr>
        <p:spPr>
          <a:xfrm>
            <a:off x="6991350" y="3810000"/>
            <a:ext cx="552450" cy="0"/>
          </a:xfrm>
          <a:prstGeom prst="line">
            <a:avLst/>
          </a:prstGeom>
          <a:noFill/>
          <a:ln w="10478">
            <a:solidFill>
              <a:srgbClr val="9AA3AF"/>
            </a:solidFill>
            <a:prstDash val="solid"/>
          </a:ln>
        </p:spPr>
      </p:sp>
      <p:sp>
        <p:nvSpPr>
          <p:cNvPr id="30" name="architecture-arrowhead">
            <a:extLst>
              <a:ext uri="{FF2B5EF4-FFF2-40B4-BE49-F238E27FC236}">
                <a16:creationId xmlns:a16="http://schemas.microsoft.com/office/drawing/2014/main" id="{E3893C09-B64A-44DB-B195-C6EC29169F35}"/>
              </a:ext>
            </a:extLst>
          </p:cNvPr>
          <p:cNvSpPr>
            <a:spLocks noGrp="1"/>
          </p:cNvSpPr>
          <p:nvPr/>
        </p:nvSpPr>
        <p:spPr>
          <a:xfrm>
            <a:off x="7483728" y="3781071"/>
            <a:ext cx="60072" cy="57858"/>
          </a:xfrm>
          <a:custGeom>
            <a:avLst/>
            <a:gdLst/>
            <a:ahLst/>
            <a:cxnLst/>
            <a:rect l="0" t="0" r="0" b="0"/>
            <a:pathLst>
              <a:path w="60072" h="57858">
                <a:moveTo>
                  <a:pt x="60072" y="28929"/>
                </a:moveTo>
                <a:lnTo>
                  <a:pt x="0" y="57858"/>
                </a:lnTo>
                <a:lnTo>
                  <a:pt x="0" y="0"/>
                </a:lnTo>
                <a:close/>
              </a:path>
            </a:pathLst>
          </a:custGeom>
          <a:solidFill>
            <a:srgbClr val="9AA3AF"/>
          </a:solidFill>
          <a:ln w="0">
            <a:noFill/>
            <a:prstDash val="solid"/>
          </a:ln>
        </p:spPr>
      </p:sp>
      <p:sp>
        <p:nvSpPr>
          <p:cNvPr id="31" name="architecture-flow">
            <a:extLst>
              <a:ext uri="{FF2B5EF4-FFF2-40B4-BE49-F238E27FC236}">
                <a16:creationId xmlns:a16="http://schemas.microsoft.com/office/drawing/2014/main" id="{96745D15-2A7D-4576-8BE2-10A5C7FB1E6E}"/>
              </a:ext>
            </a:extLst>
          </p:cNvPr>
          <p:cNvSpPr>
            <a:spLocks noGrp="1"/>
          </p:cNvSpPr>
          <p:nvPr/>
        </p:nvSpPr>
        <p:spPr>
          <a:xfrm>
            <a:off x="9696450" y="3810000"/>
            <a:ext cx="133350" cy="0"/>
          </a:xfrm>
          <a:prstGeom prst="line">
            <a:avLst/>
          </a:prstGeom>
          <a:noFill/>
          <a:ln w="10478">
            <a:solidFill>
              <a:srgbClr val="9AA3AF"/>
            </a:solidFill>
            <a:prstDash val="solid"/>
          </a:ln>
        </p:spPr>
      </p:sp>
      <p:sp>
        <p:nvSpPr>
          <p:cNvPr id="32" name="architecture-arrowhead">
            <a:extLst>
              <a:ext uri="{FF2B5EF4-FFF2-40B4-BE49-F238E27FC236}">
                <a16:creationId xmlns:a16="http://schemas.microsoft.com/office/drawing/2014/main" id="{D822E665-37E7-49AA-8F27-D715EEF9A283}"/>
              </a:ext>
            </a:extLst>
          </p:cNvPr>
          <p:cNvSpPr>
            <a:spLocks noGrp="1"/>
          </p:cNvSpPr>
          <p:nvPr/>
        </p:nvSpPr>
        <p:spPr>
          <a:xfrm>
            <a:off x="9769728" y="3781071"/>
            <a:ext cx="60072" cy="57858"/>
          </a:xfrm>
          <a:custGeom>
            <a:avLst/>
            <a:gdLst/>
            <a:ahLst/>
            <a:cxnLst/>
            <a:rect l="0" t="0" r="0" b="0"/>
            <a:pathLst>
              <a:path w="60072" h="57858">
                <a:moveTo>
                  <a:pt x="60072" y="28929"/>
                </a:moveTo>
                <a:lnTo>
                  <a:pt x="0" y="57858"/>
                </a:lnTo>
                <a:lnTo>
                  <a:pt x="0" y="0"/>
                </a:lnTo>
                <a:close/>
              </a:path>
            </a:pathLst>
          </a:custGeom>
          <a:solidFill>
            <a:srgbClr val="9AA3AF"/>
          </a:solidFill>
          <a:ln w="0">
            <a:noFill/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8125F9D-4E6F-4991-B20A-E4CE6CAC9A80}"/>
              </a:ext>
            </a:extLst>
          </p:cNvPr>
          <p:cNvSpPr>
            <a:spLocks noGrp="1"/>
          </p:cNvSpPr>
          <p:nvPr/>
        </p:nvSpPr>
        <p:spPr>
          <a:xfrm>
            <a:off x="6629400" y="45529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75" b="1">
                <a:solidFill>
                  <a:srgbClr val="5F6673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5F6673"/>
                </a:solidFill>
                <a:latin typeface="+mn-ea"/>
                <a:cs typeface="Inter"/>
              </a:rPr>
              <a:t>x L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EDF61BC-B271-4FB8-A634-72C23999BCC0}"/>
              </a:ext>
            </a:extLst>
          </p:cNvPr>
          <p:cNvSpPr>
            <a:spLocks noGrp="1"/>
          </p:cNvSpPr>
          <p:nvPr/>
        </p:nvSpPr>
        <p:spPr>
          <a:xfrm>
            <a:off x="9315450" y="48387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75" b="1">
                <a:solidFill>
                  <a:srgbClr val="5F6673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5F6673"/>
                </a:solidFill>
                <a:latin typeface="+mn-ea"/>
                <a:cs typeface="Inter"/>
              </a:rPr>
              <a:t>x L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C9A40AD-5269-4AAD-9ECB-8A793806BA76}"/>
              </a:ext>
            </a:extLst>
          </p:cNvPr>
          <p:cNvSpPr>
            <a:spLocks noGrp="1"/>
          </p:cNvSpPr>
          <p:nvPr/>
        </p:nvSpPr>
        <p:spPr>
          <a:xfrm>
            <a:off x="381000" y="63817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111827"/>
                </a:solidFill>
                <a:latin typeface="+mn-ea"/>
                <a:cs typeface="Inter"/>
              </a:rPr>
              <a:t>05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FCBFA27-5AD0-4BD0-94B3-93628127CA89}"/>
              </a:ext>
            </a:extLst>
          </p:cNvPr>
          <p:cNvSpPr>
            <a:spLocks noGrp="1"/>
          </p:cNvSpPr>
          <p:nvPr/>
        </p:nvSpPr>
        <p:spPr>
          <a:xfrm>
            <a:off x="10477500" y="638175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125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111827"/>
                </a:solidFill>
                <a:latin typeface="+mn-ea"/>
                <a:cs typeface="Inter"/>
              </a:rPr>
              <a:t>LUMIA LAB</a:t>
            </a:r>
          </a:p>
        </p:txBody>
      </p:sp>
    </p:spTree>
    <p:extLst>
      <p:ext uri="{BB962C8B-B14F-4D97-AF65-F5344CB8AC3E}">
        <p14:creationId xmlns:p14="http://schemas.microsoft.com/office/powerpoint/2010/main" val="2105388639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329E823-8B6C-43E6-843A-5D2EAF8BC6EF}"/>
              </a:ext>
            </a:extLst>
          </p:cNvPr>
          <p:cNvSpPr>
            <a:spLocks noGrp="1"/>
          </p:cNvSpPr>
          <p:nvPr/>
        </p:nvSpPr>
        <p:spPr>
          <a:xfrm>
            <a:off x="381000" y="24765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11827"/>
                </a:solidFill>
                <a:latin typeface="+mn-ea"/>
                <a:cs typeface="Inter"/>
              </a:rPr>
              <a:t>06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40B626-BDE3-4B6F-A7E6-BFF20C9C381E}"/>
              </a:ext>
            </a:extLst>
          </p:cNvPr>
          <p:cNvSpPr>
            <a:spLocks noGrp="1"/>
          </p:cNvSpPr>
          <p:nvPr/>
        </p:nvSpPr>
        <p:spPr>
          <a:xfrm>
            <a:off x="990600" y="24765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111827"/>
                </a:solidFill>
                <a:latin typeface="+mn-ea"/>
                <a:cs typeface="Inter"/>
              </a:rPr>
              <a:t>THANK YOU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96528" y="2247900"/>
            <a:ext cx="1562100" cy="1562100"/>
          </a:xfrm>
          <a:prstGeom prst="rect">
            <a:avLst/>
          </a:prstGeom>
        </p:spPr>
      </p:pic>
      <p:sp>
        <p:nvSpPr>
          <p:cNvPr id="4" name="vertical-divider">
            <a:extLst>
              <a:ext uri="{FF2B5EF4-FFF2-40B4-BE49-F238E27FC236}">
                <a16:creationId xmlns:a16="http://schemas.microsoft.com/office/drawing/2014/main" id="{D401C140-9B2C-4816-B963-98E78FFBC669}"/>
              </a:ext>
            </a:extLst>
          </p:cNvPr>
          <p:cNvSpPr>
            <a:spLocks noGrp="1"/>
          </p:cNvSpPr>
          <p:nvPr/>
        </p:nvSpPr>
        <p:spPr>
          <a:xfrm>
            <a:off x="3333750" y="2247900"/>
            <a:ext cx="11430" cy="1562100"/>
          </a:xfrm>
          <a:prstGeom prst="rect">
            <a:avLst/>
          </a:prstGeom>
          <a:solidFill>
            <a:srgbClr val="D4DAE3">
              <a:alpha val="100000"/>
            </a:srgbClr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35BF395-D63F-4837-9427-51A5F89E0AE2}"/>
              </a:ext>
            </a:extLst>
          </p:cNvPr>
          <p:cNvSpPr>
            <a:spLocks noGrp="1"/>
          </p:cNvSpPr>
          <p:nvPr/>
        </p:nvSpPr>
        <p:spPr>
          <a:xfrm>
            <a:off x="3714750" y="2266950"/>
            <a:ext cx="47625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6300" b="1">
                <a:solidFill>
                  <a:srgbClr val="111827"/>
                </a:solidFill>
                <a:latin typeface="Space Grotesk"/>
                <a:ea typeface="Space Grotesk"/>
                <a:cs typeface="Space Grotesk"/>
              </a:defRPr>
            </a:pPr>
            <a:r>
              <a:rPr sz="6300" b="1" dirty="0">
                <a:solidFill>
                  <a:srgbClr val="111827"/>
                </a:solidFill>
                <a:latin typeface="+mn-ea"/>
                <a:cs typeface="Space Grotesk"/>
              </a:rPr>
              <a:t>Thank You</a:t>
            </a:r>
          </a:p>
        </p:txBody>
      </p:sp>
      <p:sp>
        <p:nvSpPr>
          <p:cNvPr id="6" name="thanks-five-color-line-1">
            <a:extLst>
              <a:ext uri="{FF2B5EF4-FFF2-40B4-BE49-F238E27FC236}">
                <a16:creationId xmlns:a16="http://schemas.microsoft.com/office/drawing/2014/main" id="{2CEF1E20-BD58-4DC0-840D-899403D5102D}"/>
              </a:ext>
            </a:extLst>
          </p:cNvPr>
          <p:cNvSpPr>
            <a:spLocks noGrp="1"/>
          </p:cNvSpPr>
          <p:nvPr/>
        </p:nvSpPr>
        <p:spPr>
          <a:xfrm>
            <a:off x="3714750" y="3341912"/>
            <a:ext cx="628650" cy="19050"/>
          </a:xfrm>
          <a:prstGeom prst="rect">
            <a:avLst/>
          </a:prstGeom>
          <a:solidFill>
            <a:srgbClr val="FBBC05"/>
          </a:solidFill>
          <a:ln w="0">
            <a:noFill/>
            <a:prstDash val="solid"/>
          </a:ln>
        </p:spPr>
      </p:sp>
      <p:sp>
        <p:nvSpPr>
          <p:cNvPr id="7" name="thanks-five-color-line-2">
            <a:extLst>
              <a:ext uri="{FF2B5EF4-FFF2-40B4-BE49-F238E27FC236}">
                <a16:creationId xmlns:a16="http://schemas.microsoft.com/office/drawing/2014/main" id="{6DC2AECD-D492-4C66-8234-430EF2AD4DFA}"/>
              </a:ext>
            </a:extLst>
          </p:cNvPr>
          <p:cNvSpPr>
            <a:spLocks noGrp="1"/>
          </p:cNvSpPr>
          <p:nvPr/>
        </p:nvSpPr>
        <p:spPr>
          <a:xfrm>
            <a:off x="4343400" y="3341912"/>
            <a:ext cx="628650" cy="19050"/>
          </a:xfrm>
          <a:prstGeom prst="rect">
            <a:avLst/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8" name="thanks-five-color-line-3">
            <a:extLst>
              <a:ext uri="{FF2B5EF4-FFF2-40B4-BE49-F238E27FC236}">
                <a16:creationId xmlns:a16="http://schemas.microsoft.com/office/drawing/2014/main" id="{9FE59C0C-72C7-434F-BB46-396613E75B6C}"/>
              </a:ext>
            </a:extLst>
          </p:cNvPr>
          <p:cNvSpPr>
            <a:spLocks noGrp="1"/>
          </p:cNvSpPr>
          <p:nvPr/>
        </p:nvSpPr>
        <p:spPr>
          <a:xfrm>
            <a:off x="4972050" y="3341912"/>
            <a:ext cx="628650" cy="19050"/>
          </a:xfrm>
          <a:prstGeom prst="rect">
            <a:avLst/>
          </a:prstGeom>
          <a:solidFill>
            <a:srgbClr val="EA4335"/>
          </a:solidFill>
          <a:ln w="0">
            <a:noFill/>
            <a:prstDash val="solid"/>
          </a:ln>
        </p:spPr>
      </p:sp>
      <p:sp>
        <p:nvSpPr>
          <p:cNvPr id="9" name="thanks-five-color-line-4">
            <a:extLst>
              <a:ext uri="{FF2B5EF4-FFF2-40B4-BE49-F238E27FC236}">
                <a16:creationId xmlns:a16="http://schemas.microsoft.com/office/drawing/2014/main" id="{39FD8F8C-22FC-409E-BEC2-5A4B184DFD6A}"/>
              </a:ext>
            </a:extLst>
          </p:cNvPr>
          <p:cNvSpPr>
            <a:spLocks noGrp="1"/>
          </p:cNvSpPr>
          <p:nvPr/>
        </p:nvSpPr>
        <p:spPr>
          <a:xfrm>
            <a:off x="5600700" y="3341912"/>
            <a:ext cx="628650" cy="19050"/>
          </a:xfrm>
          <a:prstGeom prst="rect">
            <a:avLst/>
          </a:prstGeom>
          <a:solidFill>
            <a:srgbClr val="583B95"/>
          </a:solidFill>
          <a:ln w="0">
            <a:noFill/>
            <a:prstDash val="solid"/>
          </a:ln>
        </p:spPr>
      </p:sp>
      <p:sp>
        <p:nvSpPr>
          <p:cNvPr id="10" name="thanks-five-color-line-5">
            <a:extLst>
              <a:ext uri="{FF2B5EF4-FFF2-40B4-BE49-F238E27FC236}">
                <a16:creationId xmlns:a16="http://schemas.microsoft.com/office/drawing/2014/main" id="{56E3D166-8030-4646-A3A8-0F9D8B282BDC}"/>
              </a:ext>
            </a:extLst>
          </p:cNvPr>
          <p:cNvSpPr>
            <a:spLocks noGrp="1"/>
          </p:cNvSpPr>
          <p:nvPr/>
        </p:nvSpPr>
        <p:spPr>
          <a:xfrm>
            <a:off x="6229350" y="3341912"/>
            <a:ext cx="628650" cy="19050"/>
          </a:xfrm>
          <a:prstGeom prst="rect">
            <a:avLst/>
          </a:prstGeom>
          <a:solidFill>
            <a:srgbClr val="34A853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4869392-174B-48B7-88CC-D61C51245386}"/>
              </a:ext>
            </a:extLst>
          </p:cNvPr>
          <p:cNvSpPr>
            <a:spLocks noGrp="1"/>
          </p:cNvSpPr>
          <p:nvPr/>
        </p:nvSpPr>
        <p:spPr>
          <a:xfrm>
            <a:off x="3714750" y="3458934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 b="0">
                <a:solidFill>
                  <a:srgbClr val="5F6673"/>
                </a:solidFill>
                <a:latin typeface="Inter"/>
                <a:ea typeface="Inter"/>
                <a:cs typeface="Inter"/>
              </a:defRPr>
            </a:pPr>
            <a:r>
              <a:rPr sz="2175" b="0" dirty="0">
                <a:solidFill>
                  <a:srgbClr val="5F6673"/>
                </a:solidFill>
                <a:latin typeface="+mn-ea"/>
                <a:cs typeface="Inter"/>
              </a:rPr>
              <a:t>Questions &amp; Discussion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6DA7F55-DCBE-4D9B-A80F-878C486A1C67}"/>
              </a:ext>
            </a:extLst>
          </p:cNvPr>
          <p:cNvSpPr>
            <a:spLocks noGrp="1"/>
          </p:cNvSpPr>
          <p:nvPr/>
        </p:nvSpPr>
        <p:spPr>
          <a:xfrm>
            <a:off x="381000" y="63817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111827"/>
                </a:solidFill>
                <a:latin typeface="+mn-ea"/>
                <a:cs typeface="Inter"/>
              </a:rPr>
              <a:t>06</a:t>
            </a:r>
          </a:p>
        </p:txBody>
      </p:sp>
      <p:sp>
        <p:nvSpPr>
          <p:cNvPr id="13" name="footer-five-color-line-1">
            <a:extLst>
              <a:ext uri="{FF2B5EF4-FFF2-40B4-BE49-F238E27FC236}">
                <a16:creationId xmlns:a16="http://schemas.microsoft.com/office/drawing/2014/main" id="{8AB6857D-52D7-47F5-BF7E-2C73D5E3F6ED}"/>
              </a:ext>
            </a:extLst>
          </p:cNvPr>
          <p:cNvSpPr>
            <a:spLocks noGrp="1"/>
          </p:cNvSpPr>
          <p:nvPr/>
        </p:nvSpPr>
        <p:spPr>
          <a:xfrm>
            <a:off x="1905000" y="6057900"/>
            <a:ext cx="1676400" cy="19050"/>
          </a:xfrm>
          <a:prstGeom prst="rect">
            <a:avLst/>
          </a:prstGeom>
          <a:solidFill>
            <a:srgbClr val="FBBC05"/>
          </a:solidFill>
          <a:ln w="0">
            <a:noFill/>
            <a:prstDash val="solid"/>
          </a:ln>
        </p:spPr>
      </p:sp>
      <p:sp>
        <p:nvSpPr>
          <p:cNvPr id="14" name="footer-five-color-line-2">
            <a:extLst>
              <a:ext uri="{FF2B5EF4-FFF2-40B4-BE49-F238E27FC236}">
                <a16:creationId xmlns:a16="http://schemas.microsoft.com/office/drawing/2014/main" id="{0DEE9AB1-B3FE-44A9-8DAF-12B096674888}"/>
              </a:ext>
            </a:extLst>
          </p:cNvPr>
          <p:cNvSpPr>
            <a:spLocks noGrp="1"/>
          </p:cNvSpPr>
          <p:nvPr/>
        </p:nvSpPr>
        <p:spPr>
          <a:xfrm>
            <a:off x="3581400" y="6057900"/>
            <a:ext cx="1676400" cy="19050"/>
          </a:xfrm>
          <a:prstGeom prst="rect">
            <a:avLst/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15" name="footer-five-color-line-3">
            <a:extLst>
              <a:ext uri="{FF2B5EF4-FFF2-40B4-BE49-F238E27FC236}">
                <a16:creationId xmlns:a16="http://schemas.microsoft.com/office/drawing/2014/main" id="{A8A3917F-E56C-4DBC-BDF4-1F956E104470}"/>
              </a:ext>
            </a:extLst>
          </p:cNvPr>
          <p:cNvSpPr>
            <a:spLocks noGrp="1"/>
          </p:cNvSpPr>
          <p:nvPr/>
        </p:nvSpPr>
        <p:spPr>
          <a:xfrm>
            <a:off x="5257800" y="6057900"/>
            <a:ext cx="1676400" cy="19050"/>
          </a:xfrm>
          <a:prstGeom prst="rect">
            <a:avLst/>
          </a:prstGeom>
          <a:solidFill>
            <a:srgbClr val="EA4335"/>
          </a:solidFill>
          <a:ln w="0">
            <a:noFill/>
            <a:prstDash val="solid"/>
          </a:ln>
        </p:spPr>
      </p:sp>
      <p:sp>
        <p:nvSpPr>
          <p:cNvPr id="16" name="footer-five-color-line-4">
            <a:extLst>
              <a:ext uri="{FF2B5EF4-FFF2-40B4-BE49-F238E27FC236}">
                <a16:creationId xmlns:a16="http://schemas.microsoft.com/office/drawing/2014/main" id="{F7CC2B56-DF8D-445E-A24C-00FB001717F3}"/>
              </a:ext>
            </a:extLst>
          </p:cNvPr>
          <p:cNvSpPr>
            <a:spLocks noGrp="1"/>
          </p:cNvSpPr>
          <p:nvPr/>
        </p:nvSpPr>
        <p:spPr>
          <a:xfrm>
            <a:off x="6934200" y="6057900"/>
            <a:ext cx="1676400" cy="19050"/>
          </a:xfrm>
          <a:prstGeom prst="rect">
            <a:avLst/>
          </a:prstGeom>
          <a:solidFill>
            <a:srgbClr val="583B95"/>
          </a:solidFill>
          <a:ln w="0">
            <a:noFill/>
            <a:prstDash val="solid"/>
          </a:ln>
        </p:spPr>
      </p:sp>
      <p:sp>
        <p:nvSpPr>
          <p:cNvPr id="17" name="footer-five-color-line-5">
            <a:extLst>
              <a:ext uri="{FF2B5EF4-FFF2-40B4-BE49-F238E27FC236}">
                <a16:creationId xmlns:a16="http://schemas.microsoft.com/office/drawing/2014/main" id="{07F3D4A2-6B22-41D3-8979-216EE1B6D6CD}"/>
              </a:ext>
            </a:extLst>
          </p:cNvPr>
          <p:cNvSpPr>
            <a:spLocks noGrp="1"/>
          </p:cNvSpPr>
          <p:nvPr/>
        </p:nvSpPr>
        <p:spPr>
          <a:xfrm>
            <a:off x="8610600" y="6057900"/>
            <a:ext cx="1676400" cy="19050"/>
          </a:xfrm>
          <a:prstGeom prst="rect">
            <a:avLst/>
          </a:prstGeom>
          <a:solidFill>
            <a:srgbClr val="34A853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86A335C-4864-47EF-9024-CBA895438EA8}"/>
              </a:ext>
            </a:extLst>
          </p:cNvPr>
          <p:cNvSpPr>
            <a:spLocks noGrp="1"/>
          </p:cNvSpPr>
          <p:nvPr/>
        </p:nvSpPr>
        <p:spPr>
          <a:xfrm>
            <a:off x="10477500" y="638175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125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111827"/>
                </a:solidFill>
                <a:latin typeface="+mn-ea"/>
                <a:cs typeface="Inter"/>
              </a:rPr>
              <a:t>LUMIA LAB</a:t>
            </a:r>
          </a:p>
        </p:txBody>
      </p:sp>
    </p:spTree>
    <p:extLst>
      <p:ext uri="{BB962C8B-B14F-4D97-AF65-F5344CB8AC3E}">
        <p14:creationId xmlns:p14="http://schemas.microsoft.com/office/powerpoint/2010/main" val="977686309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ChatGPT">
  <a:themeElements>
    <a:clrScheme name="LUMIA Research">
      <a:dk1>
        <a:srgbClr val="000000"/>
      </a:dk1>
      <a:lt1>
        <a:srgbClr val="FFFFFF"/>
      </a:lt1>
      <a:dk2>
        <a:srgbClr val="111827"/>
      </a:dk2>
      <a:lt2>
        <a:srgbClr val="EEF1F5"/>
      </a:lt2>
      <a:accent1>
        <a:srgbClr val="4285F4"/>
      </a:accent1>
      <a:accent2>
        <a:srgbClr val="EA4335"/>
      </a:accent2>
      <a:accent3>
        <a:srgbClr val="FBBC05"/>
      </a:accent3>
      <a:accent4>
        <a:srgbClr val="34A853"/>
      </a:accent4>
      <a:accent5>
        <a:srgbClr val="583B95"/>
      </a:accent5>
      <a:accent6>
        <a:srgbClr val="5C6472"/>
      </a:accent6>
      <a:hlink>
        <a:srgbClr val="4285F4"/>
      </a:hlink>
      <a:folHlink>
        <a:srgbClr val="583B95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UMIA Resear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0241" dir="4293903">
              <a:srgbClr val="111827">
                <a:alpha val="7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LUMIA Research">
      <a:dk1>
        <a:srgbClr val="000000"/>
      </a:dk1>
      <a:lt1>
        <a:srgbClr val="FFFFFF"/>
      </a:lt1>
      <a:dk2>
        <a:srgbClr val="111827"/>
      </a:dk2>
      <a:lt2>
        <a:srgbClr val="EEF1F5"/>
      </a:lt2>
      <a:accent1>
        <a:srgbClr val="4285F4"/>
      </a:accent1>
      <a:accent2>
        <a:srgbClr val="EA4335"/>
      </a:accent2>
      <a:accent3>
        <a:srgbClr val="FBBC05"/>
      </a:accent3>
      <a:accent4>
        <a:srgbClr val="34A853"/>
      </a:accent4>
      <a:accent5>
        <a:srgbClr val="583B95"/>
      </a:accent5>
      <a:accent6>
        <a:srgbClr val="5C6472"/>
      </a:accent6>
      <a:hlink>
        <a:srgbClr val="4285F4"/>
      </a:hlink>
      <a:folHlink>
        <a:srgbClr val="583B95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UMIA Resear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0241" dir="4293903">
              <a:srgbClr val="111827">
                <a:alpha val="7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LUMIA Research">
      <a:dk1>
        <a:srgbClr val="000000"/>
      </a:dk1>
      <a:lt1>
        <a:srgbClr val="FFFFFF"/>
      </a:lt1>
      <a:dk2>
        <a:srgbClr val="111827"/>
      </a:dk2>
      <a:lt2>
        <a:srgbClr val="EEF1F5"/>
      </a:lt2>
      <a:accent1>
        <a:srgbClr val="4285F4"/>
      </a:accent1>
      <a:accent2>
        <a:srgbClr val="EA4335"/>
      </a:accent2>
      <a:accent3>
        <a:srgbClr val="FBBC05"/>
      </a:accent3>
      <a:accent4>
        <a:srgbClr val="34A853"/>
      </a:accent4>
      <a:accent5>
        <a:srgbClr val="583B95"/>
      </a:accent5>
      <a:accent6>
        <a:srgbClr val="5C6472"/>
      </a:accent6>
      <a:hlink>
        <a:srgbClr val="4285F4"/>
      </a:hlink>
      <a:folHlink>
        <a:srgbClr val="583B95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UMIA Resear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0241" dir="4293903">
              <a:srgbClr val="111827">
                <a:alpha val="7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164</Words>
  <Application>Microsoft Macintosh PowerPoint</Application>
  <DocSecurity>0</DocSecurity>
  <PresentationFormat>宽屏</PresentationFormat>
  <Paragraphs>79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ChatGPT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WangYixuan</cp:lastModifiedBy>
  <cp:revision>14</cp:revision>
  <dcterms:created xsi:type="dcterms:W3CDTF">2026-07-03T09:53:40Z</dcterms:created>
  <dcterms:modified xsi:type="dcterms:W3CDTF">2026-07-04T23:12:20Z</dcterms:modified>
</cp:coreProperties>
</file>